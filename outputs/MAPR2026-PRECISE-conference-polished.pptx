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media/image11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grandir Bold" charset="1" panose="00000800000000000000"/>
      <p:regular r:id="rId24"/>
    </p:embeddedFont>
    <p:embeddedFont>
      <p:font typeface="Agrandir" charset="1" panose="00000500000000000000"/>
      <p:regular r:id="rId25"/>
    </p:embeddedFont>
    <p:embeddedFont>
      <p:font typeface="Agrandir Italics" charset="1" panose="00000500000000000000"/>
      <p:regular r:id="rId26"/>
    </p:embeddedFont>
    <p:embeddedFont>
      <p:font typeface="Agrandir Bold Italics" charset="1" panose="00000800000000000000"/>
      <p:regular r:id="rId33"/>
    </p:embeddedFont>
    <p:embeddedFont>
      <p:font typeface="Noto Sans Bold" charset="1" panose="020B0802040504020204"/>
      <p:regular r:id="rId35"/>
    </p:embeddedFont>
    <p:embeddedFont>
      <p:font typeface="Public Sans Bold" charset="1" panose="00000000000000000000"/>
      <p:regular r:id="rId36"/>
    </p:embeddedFont>
    <p:embeddedFont>
      <p:font typeface="Inter Italics" charset="1" panose="020B0502030000000004"/>
      <p:regular r:id="rId38"/>
    </p:embeddedFont>
    <p:embeddedFont>
      <p:font typeface="Inter Bold Italics" charset="1" panose="020B0802030000000004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Relationship Id="rId27" Type="http://schemas.openxmlformats.org/officeDocument/2006/relationships/notesMaster" Target="notesMasters/notesMaster1.xml"/><Relationship Id="rId28" Type="http://schemas.openxmlformats.org/officeDocument/2006/relationships/theme" Target="theme/theme2.xml"/><Relationship Id="rId29" Type="http://schemas.openxmlformats.org/officeDocument/2006/relationships/notesSlide" Target="notesSlides/notesSlide1.xml"/><Relationship Id="rId30" Type="http://schemas.openxmlformats.org/officeDocument/2006/relationships/notesSlide" Target="notesSlides/notesSlide2.xml"/><Relationship Id="rId31" Type="http://schemas.openxmlformats.org/officeDocument/2006/relationships/notesSlide" Target="notesSlides/notesSlide3.xml"/><Relationship Id="rId32" Type="http://schemas.openxmlformats.org/officeDocument/2006/relationships/notesSlide" Target="notesSlides/notesSlide4.xml"/><Relationship Id="rId33" Type="http://schemas.openxmlformats.org/officeDocument/2006/relationships/font" Target="fonts/font33.fntdata"/><Relationship Id="rId34" Type="http://schemas.openxmlformats.org/officeDocument/2006/relationships/notesSlide" Target="notesSlides/notesSlide5.xml"/><Relationship Id="rId35" Type="http://schemas.openxmlformats.org/officeDocument/2006/relationships/font" Target="fonts/font35.fntdata"/><Relationship Id="rId36" Type="http://schemas.openxmlformats.org/officeDocument/2006/relationships/font" Target="fonts/font36.fntdata"/><Relationship Id="rId37" Type="http://schemas.openxmlformats.org/officeDocument/2006/relationships/notesSlide" Target="notesSlides/notesSlide6.xml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notesSlide" Target="notesSlides/notesSlide7.xml"/><Relationship Id="rId41" Type="http://schemas.openxmlformats.org/officeDocument/2006/relationships/notesSlide" Target="notesSlides/notesSlide8.xml"/><Relationship Id="rId42" Type="http://schemas.openxmlformats.org/officeDocument/2006/relationships/notesSlide" Target="notesSlides/notesSlide9.xml"/><Relationship Id="rId43" Type="http://schemas.openxmlformats.org/officeDocument/2006/relationships/notesSlide" Target="notesSlides/notesSlide10.xml"/><Relationship Id="rId44" Type="http://schemas.openxmlformats.org/officeDocument/2006/relationships/notesSlide" Target="notesSlides/notesSlide11.xml"/><Relationship Id="rId45" Type="http://schemas.openxmlformats.org/officeDocument/2006/relationships/notesSlide" Target="notesSlides/notesSlide12.xml"/><Relationship Id="rId46" Type="http://schemas.openxmlformats.org/officeDocument/2006/relationships/notesSlide" Target="notesSlides/notesSlide13.xml"/><Relationship Id="rId47" Type="http://schemas.openxmlformats.org/officeDocument/2006/relationships/notesSlide" Target="notesSlides/notesSlide14.xml"/><Relationship Id="rId48" Type="http://schemas.openxmlformats.org/officeDocument/2006/relationships/notesSlide" Target="notesSlides/notesSlide15.xml"/><Relationship Id="rId49" Type="http://schemas.openxmlformats.org/officeDocument/2006/relationships/notesSlide" Target="notesSlides/notes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eg"/><Relationship Id="rId7" Type="http://schemas.openxmlformats.org/officeDocument/2006/relationships/image" Target="../media/image6.png"/><Relationship Id="rId8" Type="http://schemas.openxmlformats.org/officeDocument/2006/relationships/image" Target="../media/image7.svg"/><Relationship Id="rId9" Type="http://schemas.openxmlformats.org/officeDocument/2006/relationships/image" Target="../media/image8.png"/><Relationship Id="rId10" Type="http://schemas.openxmlformats.org/officeDocument/2006/relationships/image" Target="../media/image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oleObject" Target="../embeddings/oleObject1.bin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5.svg"/><Relationship Id="rId5" Type="http://schemas.openxmlformats.org/officeDocument/2006/relationships/image" Target="../media/image16.png"/><Relationship Id="rId6" Type="http://schemas.openxmlformats.org/officeDocument/2006/relationships/image" Target="../media/image17.svg"/><Relationship Id="rId7" Type="http://schemas.openxmlformats.org/officeDocument/2006/relationships/image" Target="../media/image18.png"/><Relationship Id="rId8" Type="http://schemas.openxmlformats.org/officeDocument/2006/relationships/image" Target="../media/image19.svg"/><Relationship Id="rId9" Type="http://schemas.openxmlformats.org/officeDocument/2006/relationships/image" Target="../media/image20.png"/><Relationship Id="rId10" Type="http://schemas.openxmlformats.org/officeDocument/2006/relationships/image" Target="../media/image21.svg"/><Relationship Id="rId11" Type="http://schemas.openxmlformats.org/officeDocument/2006/relationships/image" Target="../media/image22.png"/><Relationship Id="rId12" Type="http://schemas.openxmlformats.org/officeDocument/2006/relationships/image" Target="../media/image23.svg"/><Relationship Id="rId13" Type="http://schemas.openxmlformats.org/officeDocument/2006/relationships/image" Target="../media/image24.png"/><Relationship Id="rId14" Type="http://schemas.openxmlformats.org/officeDocument/2006/relationships/image" Target="../media/image25.svg"/><Relationship Id="rId15" Type="http://schemas.openxmlformats.org/officeDocument/2006/relationships/image" Target="../media/image26.png"/><Relationship Id="rId16" Type="http://schemas.openxmlformats.org/officeDocument/2006/relationships/image" Target="../media/image27.svg"/><Relationship Id="rId17" Type="http://schemas.openxmlformats.org/officeDocument/2006/relationships/image" Target="../media/image28.png"/><Relationship Id="rId18" Type="http://schemas.openxmlformats.org/officeDocument/2006/relationships/image" Target="../media/image29.svg"/><Relationship Id="rId19" Type="http://schemas.openxmlformats.org/officeDocument/2006/relationships/image" Target="../media/image30.png"/><Relationship Id="rId20" Type="http://schemas.openxmlformats.org/officeDocument/2006/relationships/image" Target="../media/image31.svg"/><Relationship Id="rId21" Type="http://schemas.openxmlformats.org/officeDocument/2006/relationships/image" Target="../media/image32.png"/><Relationship Id="rId22" Type="http://schemas.openxmlformats.org/officeDocument/2006/relationships/image" Target="../media/image33.svg"/><Relationship Id="rId23" Type="http://schemas.openxmlformats.org/officeDocument/2006/relationships/image" Target="../media/image34.png"/><Relationship Id="rId24" Type="http://schemas.openxmlformats.org/officeDocument/2006/relationships/image" Target="../media/image3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9.png"/><Relationship Id="rId4" Type="http://schemas.openxmlformats.org/officeDocument/2006/relationships/oleObject" Target="../embeddings/oleObject2.bin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0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2.png"/><Relationship Id="rId4" Type="http://schemas.openxmlformats.org/officeDocument/2006/relationships/oleObject" Target="../embeddings/oleObject3.bin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3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4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5.png"/><Relationship Id="rId4" Type="http://schemas.openxmlformats.org/officeDocument/2006/relationships/oleObject" Target="../embeddings/oleObject4.bin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e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46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10294"/>
            <a:ext cx="16230600" cy="648860"/>
            <a:chOff x="0" y="0"/>
            <a:chExt cx="21640800" cy="8651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8322484" y="1488"/>
              <a:ext cx="3318316" cy="863658"/>
            </a:xfrm>
            <a:custGeom>
              <a:avLst/>
              <a:gdLst/>
              <a:ahLst/>
              <a:cxnLst/>
              <a:rect r="r" b="b" t="t" l="l"/>
              <a:pathLst>
                <a:path h="863658" w="3318316">
                  <a:moveTo>
                    <a:pt x="0" y="0"/>
                  </a:moveTo>
                  <a:lnTo>
                    <a:pt x="3318316" y="0"/>
                  </a:lnTo>
                  <a:lnTo>
                    <a:pt x="3318316" y="863659"/>
                  </a:lnTo>
                  <a:lnTo>
                    <a:pt x="0" y="8636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988" t="-10069" r="-3079" b="-12417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591309" y="0"/>
              <a:ext cx="2504459" cy="863658"/>
            </a:xfrm>
            <a:custGeom>
              <a:avLst/>
              <a:gdLst/>
              <a:ahLst/>
              <a:cxnLst/>
              <a:rect r="r" b="b" t="t" l="l"/>
              <a:pathLst>
                <a:path h="863658" w="2504459">
                  <a:moveTo>
                    <a:pt x="0" y="0"/>
                  </a:moveTo>
                  <a:lnTo>
                    <a:pt x="2504459" y="0"/>
                  </a:lnTo>
                  <a:lnTo>
                    <a:pt x="2504459" y="863658"/>
                  </a:lnTo>
                  <a:lnTo>
                    <a:pt x="0" y="863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30" t="-46162" r="-6573" b="-20516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16279584" y="496"/>
              <a:ext cx="918535" cy="864650"/>
              <a:chOff x="0" y="0"/>
              <a:chExt cx="1222946" cy="115120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222883" cy="1151255"/>
              </a:xfrm>
              <a:custGeom>
                <a:avLst/>
                <a:gdLst/>
                <a:ahLst/>
                <a:cxnLst/>
                <a:rect r="r" b="b" t="t" l="l"/>
                <a:pathLst>
                  <a:path h="1151255" w="1222883">
                    <a:moveTo>
                      <a:pt x="0" y="0"/>
                    </a:moveTo>
                    <a:lnTo>
                      <a:pt x="1222883" y="0"/>
                    </a:lnTo>
                    <a:lnTo>
                      <a:pt x="1222883" y="1151255"/>
                    </a:lnTo>
                    <a:lnTo>
                      <a:pt x="0" y="115125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5880" t="-4" r="-15885" b="0"/>
                </a:stretch>
              </a:blip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7375919" y="61418"/>
              <a:ext cx="768765" cy="742807"/>
              <a:chOff x="0" y="0"/>
              <a:chExt cx="932421" cy="900938"/>
            </a:xfrm>
          </p:grpSpPr>
          <p:sp>
            <p:nvSpPr>
              <p:cNvPr name="Freeform 8" id="8" descr="A blue and white x  Description automatically generated"/>
              <p:cNvSpPr/>
              <p:nvPr/>
            </p:nvSpPr>
            <p:spPr>
              <a:xfrm flipH="false" flipV="false" rot="0">
                <a:off x="0" y="0"/>
                <a:ext cx="932434" cy="900938"/>
              </a:xfrm>
              <a:custGeom>
                <a:avLst/>
                <a:gdLst/>
                <a:ahLst/>
                <a:cxnLst/>
                <a:rect r="r" b="b" t="t" l="l"/>
                <a:pathLst>
                  <a:path h="900938" w="932434">
                    <a:moveTo>
                      <a:pt x="0" y="0"/>
                    </a:moveTo>
                    <a:lnTo>
                      <a:pt x="932434" y="0"/>
                    </a:lnTo>
                    <a:lnTo>
                      <a:pt x="932434" y="900938"/>
                    </a:lnTo>
                    <a:lnTo>
                      <a:pt x="0" y="9009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" t="-1" r="0" b="-1"/>
                </a:stretch>
              </a:blip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3027131" y="-39728"/>
              <a:ext cx="10161552" cy="904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8"/>
                </a:lnSpc>
              </a:pPr>
              <a:r>
                <a:rPr lang="en-US" sz="2123" b="true">
                  <a:solidFill>
                    <a:srgbClr val="20589D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THE 9</a:t>
              </a:r>
              <a:r>
                <a:rPr lang="en-US" sz="2123" b="true">
                  <a:solidFill>
                    <a:srgbClr val="20589D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th</a:t>
              </a:r>
              <a:r>
                <a:rPr lang="en-US" sz="2123" b="true">
                  <a:solidFill>
                    <a:srgbClr val="20589D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</a:t>
              </a:r>
              <a:r>
                <a:rPr lang="en-US" sz="2123" b="true">
                  <a:solidFill>
                    <a:srgbClr val="20589D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INTERNATIONAL CONFERENCE ON </a:t>
              </a:r>
            </a:p>
            <a:p>
              <a:pPr algn="l">
                <a:lnSpc>
                  <a:spcPts val="2548"/>
                </a:lnSpc>
              </a:pPr>
              <a:r>
                <a:rPr lang="en-US" sz="2123" b="true">
                  <a:solidFill>
                    <a:srgbClr val="20589D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MULTIMEDIA ANALYSIS AND PATTERN RECOGNITION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7545"/>
              <a:ext cx="2925531" cy="695829"/>
            </a:xfrm>
            <a:custGeom>
              <a:avLst/>
              <a:gdLst/>
              <a:ahLst/>
              <a:cxnLst/>
              <a:rect r="r" b="b" t="t" l="l"/>
              <a:pathLst>
                <a:path h="695829" w="2925531">
                  <a:moveTo>
                    <a:pt x="0" y="0"/>
                  </a:moveTo>
                  <a:lnTo>
                    <a:pt x="2925531" y="0"/>
                  </a:lnTo>
                  <a:lnTo>
                    <a:pt x="2925531" y="695829"/>
                  </a:lnTo>
                  <a:lnTo>
                    <a:pt x="0" y="695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686" t="-168172" r="-3405" b="-18208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2640254"/>
            <a:ext cx="16230600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9"/>
              </a:lnSpc>
            </a:pPr>
            <a:r>
              <a:rPr lang="en-US" b="true" sz="6499">
                <a:solidFill>
                  <a:srgbClr val="20589D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PRECISE: Precision-Driven Discovery </a:t>
            </a:r>
          </a:p>
          <a:p>
            <a:pPr algn="ctr">
              <a:lnSpc>
                <a:spcPts val="7799"/>
              </a:lnSpc>
            </a:pPr>
            <a:r>
              <a:rPr lang="en-US" b="true" sz="6499">
                <a:solidFill>
                  <a:srgbClr val="20589D"/>
                </a:solidFill>
                <a:latin typeface="Agrandir Bold"/>
                <a:ea typeface="Agrandir Bold"/>
                <a:cs typeface="Agrandir Bold"/>
                <a:sym typeface="Agrandir Bold"/>
              </a:rPr>
              <a:t>of Token-centric MEV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087804"/>
            <a:ext cx="162306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0589D"/>
                </a:solidFill>
                <a:latin typeface="Agrandir"/>
                <a:ea typeface="Agrandir"/>
                <a:cs typeface="Agrandir"/>
                <a:sym typeface="Agrandir"/>
              </a:rPr>
              <a:t>Paper-ID:</a:t>
            </a:r>
            <a:r>
              <a:rPr lang="en-US" b="true" sz="3000" strike="noStrike" u="none">
                <a:solidFill>
                  <a:srgbClr val="20589D"/>
                </a:solidFill>
                <a:latin typeface="Agrandir Bold"/>
                <a:ea typeface="Agrandir Bold"/>
                <a:cs typeface="Agrandir Bold"/>
                <a:sym typeface="Agrandir Bold"/>
              </a:rPr>
              <a:t> 104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501576"/>
            <a:ext cx="16230600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0589D"/>
                </a:solidFill>
                <a:latin typeface="Agrandir"/>
                <a:ea typeface="Agrandir"/>
                <a:cs typeface="Agrandir"/>
                <a:sym typeface="Agrandir"/>
              </a:rPr>
              <a:t>Presentation: </a:t>
            </a:r>
            <a:r>
              <a:rPr lang="en-US" b="true" sz="2599">
                <a:solidFill>
                  <a:srgbClr val="20589D"/>
                </a:solidFill>
                <a:latin typeface="Agrandir Bold"/>
                <a:ea typeface="Agrandir Bold"/>
                <a:cs typeface="Agrandir Bold"/>
                <a:sym typeface="Agrandir Bold"/>
              </a:rPr>
              <a:t>Dinh-Khang Nguyen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020721"/>
            <a:ext cx="16230600" cy="188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20589D"/>
                </a:solidFill>
                <a:latin typeface="Agrandir"/>
                <a:ea typeface="Agrandir"/>
                <a:cs typeface="Agrandir"/>
                <a:sym typeface="Agrandir"/>
              </a:rPr>
              <a:t>Dinh-Khang Nguyen, Huynh-Nhu Nguyen Thi, 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0589D"/>
                </a:solidFill>
                <a:latin typeface="Agrandir"/>
                <a:ea typeface="Agrandir"/>
                <a:cs typeface="Agrandir"/>
                <a:sym typeface="Agrandir"/>
              </a:rPr>
              <a:t>Bich-Nhu Hong, Quang-Trung Do, Tuan-Dung Tran, and Van-Hau Pham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i="true">
                <a:solidFill>
                  <a:srgbClr val="20589D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University of Information Technology, Vietnam National University Ho Chi Minh City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i="true">
                <a:solidFill>
                  <a:srgbClr val="20589D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Ho Chi Minh City, Vietnam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5415749"/>
            <a:ext cx="162306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20589D"/>
                </a:solidFill>
                <a:latin typeface="Agrandir Bold"/>
                <a:ea typeface="Agrandir Bold"/>
                <a:cs typeface="Agrandir Bold"/>
                <a:sym typeface="Agrandir Bold"/>
              </a:rPr>
              <a:t>Authors: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3598776" y="4179987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936504" y="8605520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915987" y="9574153"/>
            <a:ext cx="14226725" cy="3086195"/>
            <a:chOff x="0" y="0"/>
            <a:chExt cx="374697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46969" cy="812800"/>
            </a:xfrm>
            <a:custGeom>
              <a:avLst/>
              <a:gdLst/>
              <a:ahLst/>
              <a:cxnLst/>
              <a:rect r="r" b="b" t="t" l="l"/>
              <a:pathLst>
                <a:path h="812800" w="3746969">
                  <a:moveTo>
                    <a:pt x="3746969" y="54418"/>
                  </a:moveTo>
                  <a:lnTo>
                    <a:pt x="3746969" y="758382"/>
                  </a:lnTo>
                  <a:cubicBezTo>
                    <a:pt x="3746969" y="788436"/>
                    <a:pt x="3722605" y="812800"/>
                    <a:pt x="3692551" y="812800"/>
                  </a:cubicBezTo>
                  <a:lnTo>
                    <a:pt x="54418" y="812800"/>
                  </a:lnTo>
                  <a:cubicBezTo>
                    <a:pt x="24364" y="812800"/>
                    <a:pt x="0" y="788436"/>
                    <a:pt x="0" y="758382"/>
                  </a:cubicBezTo>
                  <a:lnTo>
                    <a:pt x="0" y="54418"/>
                  </a:lnTo>
                  <a:cubicBezTo>
                    <a:pt x="0" y="24364"/>
                    <a:pt x="24364" y="0"/>
                    <a:pt x="54418" y="0"/>
                  </a:cubicBezTo>
                  <a:lnTo>
                    <a:pt x="3692551" y="0"/>
                  </a:lnTo>
                  <a:cubicBezTo>
                    <a:pt x="3722605" y="0"/>
                    <a:pt x="3746969" y="24364"/>
                    <a:pt x="3746969" y="5441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0"/>
                  </a:srgbClr>
                </a:gs>
                <a:gs pos="100000">
                  <a:srgbClr val="0D47A1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74697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786388" y="9574153"/>
            <a:ext cx="1934732" cy="1317605"/>
            <a:chOff x="0" y="0"/>
            <a:chExt cx="509559" cy="3470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9559" cy="347024"/>
            </a:xfrm>
            <a:custGeom>
              <a:avLst/>
              <a:gdLst/>
              <a:ahLst/>
              <a:cxnLst/>
              <a:rect r="r" b="b" t="t" l="l"/>
              <a:pathLst>
                <a:path h="347024" w="509559">
                  <a:moveTo>
                    <a:pt x="173512" y="0"/>
                  </a:moveTo>
                  <a:lnTo>
                    <a:pt x="336047" y="0"/>
                  </a:lnTo>
                  <a:cubicBezTo>
                    <a:pt x="431875" y="0"/>
                    <a:pt x="509559" y="77684"/>
                    <a:pt x="509559" y="173512"/>
                  </a:cubicBezTo>
                  <a:lnTo>
                    <a:pt x="509559" y="173512"/>
                  </a:lnTo>
                  <a:cubicBezTo>
                    <a:pt x="509559" y="269340"/>
                    <a:pt x="431875" y="347024"/>
                    <a:pt x="336047" y="347024"/>
                  </a:cubicBezTo>
                  <a:lnTo>
                    <a:pt x="173512" y="347024"/>
                  </a:lnTo>
                  <a:cubicBezTo>
                    <a:pt x="77684" y="347024"/>
                    <a:pt x="0" y="269340"/>
                    <a:pt x="0" y="173512"/>
                  </a:cubicBezTo>
                  <a:lnTo>
                    <a:pt x="0" y="173512"/>
                  </a:lnTo>
                  <a:cubicBezTo>
                    <a:pt x="0" y="77684"/>
                    <a:pt x="77684" y="0"/>
                    <a:pt x="173512" y="0"/>
                  </a:cubicBezTo>
                  <a:close/>
                </a:path>
              </a:pathLst>
            </a:custGeom>
            <a:solidFill>
              <a:srgbClr val="D2E2F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509559" cy="404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7259300" y="9671320"/>
            <a:ext cx="60683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01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0" y="8605520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7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-3598776" y="3252178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312098"/>
            <a:ext cx="18288000" cy="784344"/>
            <a:chOff x="0" y="0"/>
            <a:chExt cx="812800" cy="34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4860"/>
            </a:xfrm>
            <a:custGeom>
              <a:avLst/>
              <a:gdLst/>
              <a:ahLst/>
              <a:cxnLst/>
              <a:rect r="r" b="b" t="t" l="l"/>
              <a:pathLst>
                <a:path h="3486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4860"/>
                  </a:lnTo>
                  <a:lnTo>
                    <a:pt x="0" y="3486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92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490499" y="9574153"/>
            <a:ext cx="25778499" cy="712847"/>
            <a:chOff x="0" y="0"/>
            <a:chExt cx="6789423" cy="187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89423" cy="187740"/>
            </a:xfrm>
            <a:custGeom>
              <a:avLst/>
              <a:gdLst/>
              <a:ahLst/>
              <a:cxnLst/>
              <a:rect r="r" b="b" t="t" l="l"/>
              <a:pathLst>
                <a:path h="187740" w="6789423">
                  <a:moveTo>
                    <a:pt x="6789423" y="30032"/>
                  </a:moveTo>
                  <a:lnTo>
                    <a:pt x="6789423" y="157708"/>
                  </a:lnTo>
                  <a:cubicBezTo>
                    <a:pt x="6789423" y="165673"/>
                    <a:pt x="6786259" y="173311"/>
                    <a:pt x="6780626" y="178944"/>
                  </a:cubicBezTo>
                  <a:cubicBezTo>
                    <a:pt x="6774994" y="184576"/>
                    <a:pt x="6767355" y="187740"/>
                    <a:pt x="6759391" y="187740"/>
                  </a:cubicBezTo>
                  <a:lnTo>
                    <a:pt x="30032" y="187740"/>
                  </a:lnTo>
                  <a:cubicBezTo>
                    <a:pt x="22067" y="187740"/>
                    <a:pt x="14428" y="184576"/>
                    <a:pt x="8796" y="178944"/>
                  </a:cubicBezTo>
                  <a:cubicBezTo>
                    <a:pt x="3164" y="173311"/>
                    <a:pt x="0" y="165673"/>
                    <a:pt x="0" y="157708"/>
                  </a:cubicBezTo>
                  <a:lnTo>
                    <a:pt x="0" y="30032"/>
                  </a:lnTo>
                  <a:cubicBezTo>
                    <a:pt x="0" y="22067"/>
                    <a:pt x="3164" y="14428"/>
                    <a:pt x="8796" y="8796"/>
                  </a:cubicBezTo>
                  <a:cubicBezTo>
                    <a:pt x="14428" y="3164"/>
                    <a:pt x="22067" y="0"/>
                    <a:pt x="30032" y="0"/>
                  </a:cubicBezTo>
                  <a:lnTo>
                    <a:pt x="6759391" y="0"/>
                  </a:lnTo>
                  <a:cubicBezTo>
                    <a:pt x="6767355" y="0"/>
                    <a:pt x="6774994" y="3164"/>
                    <a:pt x="6780626" y="8796"/>
                  </a:cubicBezTo>
                  <a:cubicBezTo>
                    <a:pt x="6786259" y="14428"/>
                    <a:pt x="6789423" y="22067"/>
                    <a:pt x="6789423" y="300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789423" cy="24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86388" y="9574153"/>
            <a:ext cx="1934732" cy="1317605"/>
            <a:chOff x="0" y="0"/>
            <a:chExt cx="509559" cy="3470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59" cy="347024"/>
            </a:xfrm>
            <a:custGeom>
              <a:avLst/>
              <a:gdLst/>
              <a:ahLst/>
              <a:cxnLst/>
              <a:rect r="r" b="b" t="t" l="l"/>
              <a:pathLst>
                <a:path h="347024" w="509559">
                  <a:moveTo>
                    <a:pt x="173512" y="0"/>
                  </a:moveTo>
                  <a:lnTo>
                    <a:pt x="336047" y="0"/>
                  </a:lnTo>
                  <a:cubicBezTo>
                    <a:pt x="431875" y="0"/>
                    <a:pt x="509559" y="77684"/>
                    <a:pt x="509559" y="173512"/>
                  </a:cubicBezTo>
                  <a:lnTo>
                    <a:pt x="509559" y="173512"/>
                  </a:lnTo>
                  <a:cubicBezTo>
                    <a:pt x="509559" y="269340"/>
                    <a:pt x="431875" y="347024"/>
                    <a:pt x="336047" y="347024"/>
                  </a:cubicBezTo>
                  <a:lnTo>
                    <a:pt x="173512" y="347024"/>
                  </a:lnTo>
                  <a:cubicBezTo>
                    <a:pt x="77684" y="347024"/>
                    <a:pt x="0" y="269340"/>
                    <a:pt x="0" y="173512"/>
                  </a:cubicBezTo>
                  <a:lnTo>
                    <a:pt x="0" y="173512"/>
                  </a:lnTo>
                  <a:cubicBezTo>
                    <a:pt x="0" y="77684"/>
                    <a:pt x="77684" y="0"/>
                    <a:pt x="173512" y="0"/>
                  </a:cubicBezTo>
                  <a:close/>
                </a:path>
              </a:pathLst>
            </a:custGeom>
            <a:solidFill>
              <a:srgbClr val="D2E2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9559" cy="404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15793" y="9665672"/>
            <a:ext cx="12670595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Blockchainist Research Team - University of Information Technology, VNU-HCM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15247" y="2567424"/>
            <a:ext cx="2738861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35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Introduction</a:t>
            </a:r>
          </a:p>
        </p:txBody>
      </p:sp>
      <p:sp>
        <p:nvSpPr>
          <p:cNvPr name="AutoShape 13" id="13"/>
          <p:cNvSpPr/>
          <p:nvPr/>
        </p:nvSpPr>
        <p:spPr>
          <a:xfrm>
            <a:off x="6154108" y="2861747"/>
            <a:ext cx="7529347" cy="0"/>
          </a:xfrm>
          <a:prstGeom prst="line">
            <a:avLst/>
          </a:prstGeom>
          <a:ln cap="flat" w="19050">
            <a:solidFill>
              <a:srgbClr val="0D47A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3868634" y="2567424"/>
            <a:ext cx="1004119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5"/>
              </a:lnSpc>
            </a:pPr>
            <a:r>
              <a:rPr lang="en-US" b="true" sz="3500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15247" y="3480263"/>
            <a:ext cx="3059807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35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Related Work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68634" y="3480263"/>
            <a:ext cx="1004119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5"/>
              </a:lnSpc>
            </a:pPr>
            <a:r>
              <a:rPr lang="en-US" b="true" sz="3500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15247" y="4393102"/>
            <a:ext cx="2918054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35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Methodology</a:t>
            </a:r>
          </a:p>
        </p:txBody>
      </p:sp>
      <p:sp>
        <p:nvSpPr>
          <p:cNvPr name="AutoShape 18" id="18"/>
          <p:cNvSpPr/>
          <p:nvPr/>
        </p:nvSpPr>
        <p:spPr>
          <a:xfrm>
            <a:off x="6333301" y="4687424"/>
            <a:ext cx="7350093" cy="9525"/>
          </a:xfrm>
          <a:prstGeom prst="line">
            <a:avLst/>
          </a:prstGeom>
          <a:ln cap="flat" w="19050">
            <a:solidFill>
              <a:srgbClr val="0D47A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3868634" y="4393102"/>
            <a:ext cx="1004119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5"/>
              </a:lnSpc>
            </a:pPr>
            <a:r>
              <a:rPr lang="en-US" b="true" sz="3500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15247" y="5305940"/>
            <a:ext cx="4535813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35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Experimental Results</a:t>
            </a:r>
          </a:p>
        </p:txBody>
      </p:sp>
      <p:sp>
        <p:nvSpPr>
          <p:cNvPr name="AutoShape 21" id="21"/>
          <p:cNvSpPr/>
          <p:nvPr/>
        </p:nvSpPr>
        <p:spPr>
          <a:xfrm>
            <a:off x="7951060" y="5600263"/>
            <a:ext cx="5732302" cy="4762"/>
          </a:xfrm>
          <a:prstGeom prst="line">
            <a:avLst/>
          </a:prstGeom>
          <a:ln cap="flat" w="19050">
            <a:solidFill>
              <a:srgbClr val="0D47A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3868634" y="5305940"/>
            <a:ext cx="1004119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65"/>
              </a:lnSpc>
              <a:spcBef>
                <a:spcPct val="0"/>
              </a:spcBef>
            </a:pPr>
            <a:r>
              <a:rPr lang="en-US" b="true" sz="3500" strike="noStrike" u="none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09</a:t>
            </a:r>
          </a:p>
        </p:txBody>
      </p:sp>
      <p:sp>
        <p:nvSpPr>
          <p:cNvPr name="AutoShape 23" id="23"/>
          <p:cNvSpPr/>
          <p:nvPr/>
        </p:nvSpPr>
        <p:spPr>
          <a:xfrm flipV="true">
            <a:off x="6475054" y="3759994"/>
            <a:ext cx="7208340" cy="14592"/>
          </a:xfrm>
          <a:prstGeom prst="line">
            <a:avLst/>
          </a:prstGeom>
          <a:ln cap="flat" w="19050">
            <a:solidFill>
              <a:srgbClr val="0D47A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3415247" y="6218436"/>
            <a:ext cx="2369336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35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Discussion</a:t>
            </a:r>
          </a:p>
        </p:txBody>
      </p:sp>
      <p:sp>
        <p:nvSpPr>
          <p:cNvPr name="AutoShape 25" id="25"/>
          <p:cNvSpPr/>
          <p:nvPr/>
        </p:nvSpPr>
        <p:spPr>
          <a:xfrm>
            <a:off x="5784583" y="6512758"/>
            <a:ext cx="7898779" cy="4762"/>
          </a:xfrm>
          <a:prstGeom prst="line">
            <a:avLst/>
          </a:prstGeom>
          <a:ln cap="flat" w="19050">
            <a:solidFill>
              <a:srgbClr val="0D47A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3868634" y="6218436"/>
            <a:ext cx="1004119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5"/>
              </a:lnSpc>
            </a:pPr>
            <a:r>
              <a:rPr lang="en-US" b="true" sz="3500" spc="399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18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267708"/>
            <a:ext cx="9221333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Table of Contents 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-109576" y="399170"/>
            <a:ext cx="219151" cy="610200"/>
            <a:chOff x="0" y="0"/>
            <a:chExt cx="292202" cy="813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2227" cy="813562"/>
            </a:xfrm>
            <a:custGeom>
              <a:avLst/>
              <a:gdLst/>
              <a:ahLst/>
              <a:cxnLst/>
              <a:rect r="r" b="b" t="t" l="l"/>
              <a:pathLst>
                <a:path h="813562" w="292227">
                  <a:moveTo>
                    <a:pt x="0" y="0"/>
                  </a:moveTo>
                  <a:lnTo>
                    <a:pt x="292227" y="0"/>
                  </a:lnTo>
                  <a:lnTo>
                    <a:pt x="292227" y="813562"/>
                  </a:lnTo>
                  <a:lnTo>
                    <a:pt x="0" y="8135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7259300" y="9671320"/>
            <a:ext cx="60683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415247" y="7130931"/>
            <a:ext cx="2455674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35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Conclusion</a:t>
            </a:r>
          </a:p>
        </p:txBody>
      </p:sp>
      <p:sp>
        <p:nvSpPr>
          <p:cNvPr name="AutoShape 32" id="32"/>
          <p:cNvSpPr/>
          <p:nvPr/>
        </p:nvSpPr>
        <p:spPr>
          <a:xfrm>
            <a:off x="5870921" y="7425253"/>
            <a:ext cx="7812441" cy="4762"/>
          </a:xfrm>
          <a:prstGeom prst="line">
            <a:avLst/>
          </a:prstGeom>
          <a:ln cap="flat" w="19050">
            <a:solidFill>
              <a:srgbClr val="0D47A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13868634" y="7130931"/>
            <a:ext cx="1004119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5"/>
              </a:lnSpc>
            </a:pPr>
            <a:r>
              <a:rPr lang="en-US" b="true" sz="3500" spc="399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20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312098"/>
            <a:ext cx="18288000" cy="784344"/>
            <a:chOff x="0" y="0"/>
            <a:chExt cx="812800" cy="34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4860"/>
            </a:xfrm>
            <a:custGeom>
              <a:avLst/>
              <a:gdLst/>
              <a:ahLst/>
              <a:cxnLst/>
              <a:rect r="r" b="b" t="t" l="l"/>
              <a:pathLst>
                <a:path h="3486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4860"/>
                  </a:lnTo>
                  <a:lnTo>
                    <a:pt x="0" y="3486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92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490499" y="9574153"/>
            <a:ext cx="25778499" cy="712847"/>
            <a:chOff x="0" y="0"/>
            <a:chExt cx="6789423" cy="187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89423" cy="187740"/>
            </a:xfrm>
            <a:custGeom>
              <a:avLst/>
              <a:gdLst/>
              <a:ahLst/>
              <a:cxnLst/>
              <a:rect r="r" b="b" t="t" l="l"/>
              <a:pathLst>
                <a:path h="187740" w="6789423">
                  <a:moveTo>
                    <a:pt x="6789423" y="30032"/>
                  </a:moveTo>
                  <a:lnTo>
                    <a:pt x="6789423" y="157708"/>
                  </a:lnTo>
                  <a:cubicBezTo>
                    <a:pt x="6789423" y="165673"/>
                    <a:pt x="6786259" y="173311"/>
                    <a:pt x="6780626" y="178944"/>
                  </a:cubicBezTo>
                  <a:cubicBezTo>
                    <a:pt x="6774994" y="184576"/>
                    <a:pt x="6767355" y="187740"/>
                    <a:pt x="6759391" y="187740"/>
                  </a:cubicBezTo>
                  <a:lnTo>
                    <a:pt x="30032" y="187740"/>
                  </a:lnTo>
                  <a:cubicBezTo>
                    <a:pt x="22067" y="187740"/>
                    <a:pt x="14428" y="184576"/>
                    <a:pt x="8796" y="178944"/>
                  </a:cubicBezTo>
                  <a:cubicBezTo>
                    <a:pt x="3164" y="173311"/>
                    <a:pt x="0" y="165673"/>
                    <a:pt x="0" y="157708"/>
                  </a:cubicBezTo>
                  <a:lnTo>
                    <a:pt x="0" y="30032"/>
                  </a:lnTo>
                  <a:cubicBezTo>
                    <a:pt x="0" y="22067"/>
                    <a:pt x="3164" y="14428"/>
                    <a:pt x="8796" y="8796"/>
                  </a:cubicBezTo>
                  <a:cubicBezTo>
                    <a:pt x="14428" y="3164"/>
                    <a:pt x="22067" y="0"/>
                    <a:pt x="30032" y="0"/>
                  </a:cubicBezTo>
                  <a:lnTo>
                    <a:pt x="6759391" y="0"/>
                  </a:lnTo>
                  <a:cubicBezTo>
                    <a:pt x="6767355" y="0"/>
                    <a:pt x="6774994" y="3164"/>
                    <a:pt x="6780626" y="8796"/>
                  </a:cubicBezTo>
                  <a:cubicBezTo>
                    <a:pt x="6786259" y="14428"/>
                    <a:pt x="6789423" y="22067"/>
                    <a:pt x="6789423" y="300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789423" cy="24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86388" y="9574153"/>
            <a:ext cx="1934732" cy="1317605"/>
            <a:chOff x="0" y="0"/>
            <a:chExt cx="509559" cy="3470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59" cy="347024"/>
            </a:xfrm>
            <a:custGeom>
              <a:avLst/>
              <a:gdLst/>
              <a:ahLst/>
              <a:cxnLst/>
              <a:rect r="r" b="b" t="t" l="l"/>
              <a:pathLst>
                <a:path h="347024" w="509559">
                  <a:moveTo>
                    <a:pt x="173512" y="0"/>
                  </a:moveTo>
                  <a:lnTo>
                    <a:pt x="336047" y="0"/>
                  </a:lnTo>
                  <a:cubicBezTo>
                    <a:pt x="431875" y="0"/>
                    <a:pt x="509559" y="77684"/>
                    <a:pt x="509559" y="173512"/>
                  </a:cubicBezTo>
                  <a:lnTo>
                    <a:pt x="509559" y="173512"/>
                  </a:lnTo>
                  <a:cubicBezTo>
                    <a:pt x="509559" y="269340"/>
                    <a:pt x="431875" y="347024"/>
                    <a:pt x="336047" y="347024"/>
                  </a:cubicBezTo>
                  <a:lnTo>
                    <a:pt x="173512" y="347024"/>
                  </a:lnTo>
                  <a:cubicBezTo>
                    <a:pt x="77684" y="347024"/>
                    <a:pt x="0" y="269340"/>
                    <a:pt x="0" y="173512"/>
                  </a:cubicBezTo>
                  <a:lnTo>
                    <a:pt x="0" y="173512"/>
                  </a:lnTo>
                  <a:cubicBezTo>
                    <a:pt x="0" y="77684"/>
                    <a:pt x="77684" y="0"/>
                    <a:pt x="173512" y="0"/>
                  </a:cubicBezTo>
                  <a:close/>
                </a:path>
              </a:pathLst>
            </a:custGeom>
            <a:solidFill>
              <a:srgbClr val="D2E2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9559" cy="404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09576" y="399170"/>
            <a:ext cx="219151" cy="610200"/>
            <a:chOff x="0" y="0"/>
            <a:chExt cx="292202" cy="813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227" cy="813562"/>
            </a:xfrm>
            <a:custGeom>
              <a:avLst/>
              <a:gdLst/>
              <a:ahLst/>
              <a:cxnLst/>
              <a:rect r="r" b="b" t="t" l="l"/>
              <a:pathLst>
                <a:path h="813562" w="292227">
                  <a:moveTo>
                    <a:pt x="0" y="0"/>
                  </a:moveTo>
                  <a:lnTo>
                    <a:pt x="292227" y="0"/>
                  </a:lnTo>
                  <a:lnTo>
                    <a:pt x="292227" y="813562"/>
                  </a:lnTo>
                  <a:lnTo>
                    <a:pt x="0" y="8135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2782474"/>
            <a:ext cx="2354678" cy="2057400"/>
          </a:xfrm>
          <a:custGeom>
            <a:avLst/>
            <a:gdLst/>
            <a:ahLst/>
            <a:cxnLst/>
            <a:rect r="r" b="b" t="t" l="l"/>
            <a:pathLst>
              <a:path h="2057400" w="2354678">
                <a:moveTo>
                  <a:pt x="0" y="0"/>
                </a:moveTo>
                <a:lnTo>
                  <a:pt x="2354678" y="0"/>
                </a:lnTo>
                <a:lnTo>
                  <a:pt x="235467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775986" y="2377662"/>
            <a:ext cx="1348331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Background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75986" y="2901537"/>
            <a:ext cx="13483314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4115793" y="9665672"/>
            <a:ext cx="12670595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Blockchainist Research Team - University of Information Technology, VNU-HCM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67708"/>
            <a:ext cx="16230600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Introduction: The Challenge of Token-centric MEV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59300" y="9671320"/>
            <a:ext cx="60683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03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271849" y="6545167"/>
            <a:ext cx="7987451" cy="1604891"/>
          </a:xfrm>
          <a:custGeom>
            <a:avLst/>
            <a:gdLst/>
            <a:ahLst/>
            <a:cxnLst/>
            <a:rect r="r" b="b" t="t" l="l"/>
            <a:pathLst>
              <a:path h="1604891" w="7987451">
                <a:moveTo>
                  <a:pt x="0" y="0"/>
                </a:moveTo>
                <a:lnTo>
                  <a:pt x="7987451" y="0"/>
                </a:lnTo>
                <a:lnTo>
                  <a:pt x="7987451" y="1604891"/>
                </a:lnTo>
                <a:lnTo>
                  <a:pt x="0" y="16048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237" t="-69008" r="-214" b="-90917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271849" y="5778095"/>
            <a:ext cx="798745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Typical Attack Sequence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5778095"/>
            <a:ext cx="7663308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Core Problem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6483183"/>
            <a:ext cx="7663308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</a:p>
        </p:txBody>
      </p:sp>
      <p:sp>
        <p:nvSpPr>
          <p:cNvPr id="23" name="Oval 22"/>
          <p:cNvSpPr/>
          <p:nvPr/>
        </p:nvSpPr>
        <p:spPr>
          <a:xfrm>
            <a:off x="3749039" y="2788920"/>
            <a:ext cx="384048" cy="384048"/>
          </a:xfrm>
          <a:prstGeom prst="ellipse">
            <a:avLst/>
          </a:prstGeom>
          <a:solidFill>
            <a:srgbClr val="0053A6"/>
          </a:solidFill>
          <a:ln>
            <a:solidFill>
              <a:srgbClr val="00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2839212"/>
            <a:ext cx="384048" cy="31089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grandir"/>
              </a:defRPr>
            </a:pPr>
            <a:r>
              <a:t>ERC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2843784"/>
            <a:ext cx="9784080" cy="310896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400" b="1">
                <a:solidFill>
                  <a:srgbClr val="1D3A60"/>
                </a:solidFill>
                <a:latin typeface="Agrandir"/>
              </a:defRPr>
            </a:pPr>
            <a:r>
              <a:t>ERC-20 assumptions shape AMM behavior.</a:t>
            </a:r>
          </a:p>
        </p:txBody>
      </p:sp>
      <p:sp>
        <p:nvSpPr>
          <p:cNvPr id="26" name="Oval 25"/>
          <p:cNvSpPr/>
          <p:nvPr/>
        </p:nvSpPr>
        <p:spPr>
          <a:xfrm>
            <a:off x="3749039" y="3264408"/>
            <a:ext cx="384048" cy="384048"/>
          </a:xfrm>
          <a:prstGeom prst="ellipse">
            <a:avLst/>
          </a:prstGeom>
          <a:solidFill>
            <a:srgbClr val="0053A6"/>
          </a:solidFill>
          <a:ln>
            <a:solidFill>
              <a:srgbClr val="00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3314700"/>
            <a:ext cx="384048" cy="31089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grandir"/>
              </a:defRPr>
            </a:pPr>
            <a:r>
              <a:t>DeFi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3319272"/>
            <a:ext cx="9784080" cy="310896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400" b="1">
                <a:solidFill>
                  <a:srgbClr val="1D3A60"/>
                </a:solidFill>
                <a:latin typeface="Agrandir"/>
              </a:defRPr>
            </a:pPr>
            <a:r>
              <a:t>DeFi protocols rely on balance invariants.</a:t>
            </a:r>
          </a:p>
        </p:txBody>
      </p:sp>
      <p:sp>
        <p:nvSpPr>
          <p:cNvPr id="29" name="Oval 28"/>
          <p:cNvSpPr/>
          <p:nvPr/>
        </p:nvSpPr>
        <p:spPr>
          <a:xfrm>
            <a:off x="3749039" y="3739896"/>
            <a:ext cx="384048" cy="384048"/>
          </a:xfrm>
          <a:prstGeom prst="ellipse">
            <a:avLst/>
          </a:prstGeom>
          <a:solidFill>
            <a:srgbClr val="0053A6"/>
          </a:solidFill>
          <a:ln>
            <a:solidFill>
              <a:srgbClr val="00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39" y="3790187"/>
            <a:ext cx="384048" cy="31089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grandir"/>
              </a:defRPr>
            </a:pPr>
            <a:r>
              <a:t>MEV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3794759"/>
            <a:ext cx="9784080" cy="310896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400" b="1">
                <a:solidFill>
                  <a:srgbClr val="1D3A60"/>
                </a:solidFill>
                <a:latin typeface="Agrandir"/>
              </a:defRPr>
            </a:pPr>
            <a:r>
              <a:t>MEV emerges when token state and price diverge.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263640"/>
            <a:ext cx="7315200" cy="1691640"/>
          </a:xfrm>
          <a:prstGeom prst="roundRect">
            <a:avLst/>
          </a:prstGeom>
          <a:solidFill>
            <a:srgbClr val="E2F0FF"/>
          </a:solidFill>
          <a:ln w="13970">
            <a:solidFill>
              <a:srgbClr val="89B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6382512"/>
            <a:ext cx="6766560" cy="1417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1300" b="1">
                <a:solidFill>
                  <a:srgbClr val="003E7D"/>
                </a:solidFill>
                <a:latin typeface="Agrandir"/>
              </a:defRPr>
            </a:pPr>
            <a:r>
              <a:t>Token state changes</a:t>
            </a:r>
          </a:p>
          <a:p>
            <a:pPr algn="ctr">
              <a:defRPr sz="1300" b="1">
                <a:solidFill>
                  <a:srgbClr val="003E7D"/>
                </a:solidFill>
                <a:latin typeface="Agrandir"/>
              </a:defRPr>
            </a:pPr>
            <a:r>
              <a:t>↓</a:t>
            </a:r>
          </a:p>
          <a:p>
            <a:pPr algn="ctr">
              <a:defRPr sz="1300" b="1">
                <a:solidFill>
                  <a:srgbClr val="003E7D"/>
                </a:solidFill>
                <a:latin typeface="Agrandir"/>
              </a:defRPr>
            </a:pPr>
            <a:r>
              <a:t>AMM price remains unchanged</a:t>
            </a:r>
          </a:p>
          <a:p>
            <a:pPr algn="ctr">
              <a:defRPr sz="1300" b="1">
                <a:solidFill>
                  <a:srgbClr val="003E7D"/>
                </a:solidFill>
                <a:latin typeface="Agrandir"/>
              </a:defRPr>
            </a:pPr>
            <a:r>
              <a:t>↓</a:t>
            </a:r>
          </a:p>
          <a:p>
            <a:pPr algn="ctr">
              <a:defRPr sz="1300" b="1">
                <a:solidFill>
                  <a:srgbClr val="003E7D"/>
                </a:solidFill>
                <a:latin typeface="Agrandir"/>
              </a:defRPr>
            </a:pPr>
            <a:r>
              <a:t>Price inconsistency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859000" y="7891272"/>
            <a:ext cx="2011680" cy="384048"/>
          </a:xfrm>
          <a:prstGeom prst="roundRect">
            <a:avLst/>
          </a:prstGeom>
          <a:solidFill>
            <a:srgbClr val="EDFAF5"/>
          </a:solidFill>
          <a:ln w="13970">
            <a:solidFill>
              <a:srgbClr val="E2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904720" y="7941564"/>
            <a:ext cx="192024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1100" b="1">
                <a:solidFill>
                  <a:srgbClr val="009A70"/>
                </a:solidFill>
                <a:latin typeface="Agrandir"/>
              </a:defRPr>
            </a:pPr>
            <a:r>
              <a:t>$  Searcher Profit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312098"/>
            <a:ext cx="18288000" cy="784344"/>
            <a:chOff x="0" y="0"/>
            <a:chExt cx="812800" cy="34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4860"/>
            </a:xfrm>
            <a:custGeom>
              <a:avLst/>
              <a:gdLst/>
              <a:ahLst/>
              <a:cxnLst/>
              <a:rect r="r" b="b" t="t" l="l"/>
              <a:pathLst>
                <a:path h="3486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4860"/>
                  </a:lnTo>
                  <a:lnTo>
                    <a:pt x="0" y="3486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92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490499" y="9574153"/>
            <a:ext cx="25778499" cy="712847"/>
            <a:chOff x="0" y="0"/>
            <a:chExt cx="6789423" cy="187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89423" cy="187740"/>
            </a:xfrm>
            <a:custGeom>
              <a:avLst/>
              <a:gdLst/>
              <a:ahLst/>
              <a:cxnLst/>
              <a:rect r="r" b="b" t="t" l="l"/>
              <a:pathLst>
                <a:path h="187740" w="6789423">
                  <a:moveTo>
                    <a:pt x="6789423" y="30032"/>
                  </a:moveTo>
                  <a:lnTo>
                    <a:pt x="6789423" y="157708"/>
                  </a:lnTo>
                  <a:cubicBezTo>
                    <a:pt x="6789423" y="165673"/>
                    <a:pt x="6786259" y="173311"/>
                    <a:pt x="6780626" y="178944"/>
                  </a:cubicBezTo>
                  <a:cubicBezTo>
                    <a:pt x="6774994" y="184576"/>
                    <a:pt x="6767355" y="187740"/>
                    <a:pt x="6759391" y="187740"/>
                  </a:cubicBezTo>
                  <a:lnTo>
                    <a:pt x="30032" y="187740"/>
                  </a:lnTo>
                  <a:cubicBezTo>
                    <a:pt x="22067" y="187740"/>
                    <a:pt x="14428" y="184576"/>
                    <a:pt x="8796" y="178944"/>
                  </a:cubicBezTo>
                  <a:cubicBezTo>
                    <a:pt x="3164" y="173311"/>
                    <a:pt x="0" y="165673"/>
                    <a:pt x="0" y="157708"/>
                  </a:cubicBezTo>
                  <a:lnTo>
                    <a:pt x="0" y="30032"/>
                  </a:lnTo>
                  <a:cubicBezTo>
                    <a:pt x="0" y="22067"/>
                    <a:pt x="3164" y="14428"/>
                    <a:pt x="8796" y="8796"/>
                  </a:cubicBezTo>
                  <a:cubicBezTo>
                    <a:pt x="14428" y="3164"/>
                    <a:pt x="22067" y="0"/>
                    <a:pt x="30032" y="0"/>
                  </a:cubicBezTo>
                  <a:lnTo>
                    <a:pt x="6759391" y="0"/>
                  </a:lnTo>
                  <a:cubicBezTo>
                    <a:pt x="6767355" y="0"/>
                    <a:pt x="6774994" y="3164"/>
                    <a:pt x="6780626" y="8796"/>
                  </a:cubicBezTo>
                  <a:cubicBezTo>
                    <a:pt x="6786259" y="14428"/>
                    <a:pt x="6789423" y="22067"/>
                    <a:pt x="6789423" y="300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789423" cy="24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86388" y="9574153"/>
            <a:ext cx="1934732" cy="1317605"/>
            <a:chOff x="0" y="0"/>
            <a:chExt cx="509559" cy="3470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59" cy="347024"/>
            </a:xfrm>
            <a:custGeom>
              <a:avLst/>
              <a:gdLst/>
              <a:ahLst/>
              <a:cxnLst/>
              <a:rect r="r" b="b" t="t" l="l"/>
              <a:pathLst>
                <a:path h="347024" w="509559">
                  <a:moveTo>
                    <a:pt x="173512" y="0"/>
                  </a:moveTo>
                  <a:lnTo>
                    <a:pt x="336047" y="0"/>
                  </a:lnTo>
                  <a:cubicBezTo>
                    <a:pt x="431875" y="0"/>
                    <a:pt x="509559" y="77684"/>
                    <a:pt x="509559" y="173512"/>
                  </a:cubicBezTo>
                  <a:lnTo>
                    <a:pt x="509559" y="173512"/>
                  </a:lnTo>
                  <a:cubicBezTo>
                    <a:pt x="509559" y="269340"/>
                    <a:pt x="431875" y="347024"/>
                    <a:pt x="336047" y="347024"/>
                  </a:cubicBezTo>
                  <a:lnTo>
                    <a:pt x="173512" y="347024"/>
                  </a:lnTo>
                  <a:cubicBezTo>
                    <a:pt x="77684" y="347024"/>
                    <a:pt x="0" y="269340"/>
                    <a:pt x="0" y="173512"/>
                  </a:cubicBezTo>
                  <a:lnTo>
                    <a:pt x="0" y="173512"/>
                  </a:lnTo>
                  <a:cubicBezTo>
                    <a:pt x="0" y="77684"/>
                    <a:pt x="77684" y="0"/>
                    <a:pt x="173512" y="0"/>
                  </a:cubicBezTo>
                  <a:close/>
                </a:path>
              </a:pathLst>
            </a:custGeom>
            <a:solidFill>
              <a:srgbClr val="D2E2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9559" cy="404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09576" y="399170"/>
            <a:ext cx="219151" cy="610200"/>
            <a:chOff x="0" y="0"/>
            <a:chExt cx="292202" cy="813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227" cy="813562"/>
            </a:xfrm>
            <a:custGeom>
              <a:avLst/>
              <a:gdLst/>
              <a:ahLst/>
              <a:cxnLst/>
              <a:rect r="r" b="b" t="t" l="l"/>
              <a:pathLst>
                <a:path h="813562" w="292227">
                  <a:moveTo>
                    <a:pt x="0" y="0"/>
                  </a:moveTo>
                  <a:lnTo>
                    <a:pt x="292227" y="0"/>
                  </a:lnTo>
                  <a:lnTo>
                    <a:pt x="292227" y="813562"/>
                  </a:lnTo>
                  <a:lnTo>
                    <a:pt x="0" y="8135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115793" y="9665672"/>
            <a:ext cx="12670595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Blockchainist Research Team - University of Information Technology, VNU-HCM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67708"/>
            <a:ext cx="16230600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Introduction: Motivation and Research Objective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671320"/>
            <a:ext cx="60683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7320" y="2009011"/>
            <a:ext cx="649224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Static and Symbolic 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760129"/>
            <a:ext cx="7396950" cy="326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- Scalable to large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contract datasets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- Effective at identifying suspicious code patterns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- Cannot confirm runtime feasibility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- May suffer from path explosion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- Often produces false positives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12680" y="2009011"/>
            <a:ext cx="64008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Unguided Dynamic Fuzzing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62350" y="2760129"/>
            <a:ext cx="7396950" cy="380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- Provides exe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cution-grounded evidence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- 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Explores a large and unfocused search space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- 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Wastes fuzzing budget on: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  + 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View functions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  + 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Irrelevant setters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  + 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Infeasible execution paths</a:t>
            </a:r>
          </a:p>
        </p:txBody>
      </p:sp>
      <p:sp>
        <p:nvSpPr>
          <p:cNvPr name="AutoShape 20" id="20"/>
          <p:cNvSpPr/>
          <p:nvPr/>
        </p:nvSpPr>
        <p:spPr>
          <a:xfrm flipV="true">
            <a:off x="9144000" y="2151886"/>
            <a:ext cx="0" cy="4408719"/>
          </a:xfrm>
          <a:prstGeom prst="line">
            <a:avLst/>
          </a:prstGeom>
          <a:ln cap="flat" w="28575">
            <a:solidFill>
              <a:srgbClr val="0D47A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417320" y="6861406"/>
            <a:ext cx="15453359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Research Objective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7385281"/>
            <a:ext cx="1623060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    Develop a framew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ork that is: Scalable → Execution-grounded → Token-aware → Profitability-aware → 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R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eproducible. 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2011680"/>
            <a:ext cx="384048" cy="384048"/>
          </a:xfrm>
          <a:prstGeom prst="ellipse">
            <a:avLst/>
          </a:prstGeom>
          <a:solidFill>
            <a:srgbClr val="0053A6"/>
          </a:solidFill>
          <a:ln>
            <a:solidFill>
              <a:srgbClr val="00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2061972"/>
            <a:ext cx="384048" cy="31089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grandir"/>
              </a:defRPr>
            </a:pPr>
            <a:r>
              <a:t>SA</a:t>
            </a:r>
          </a:p>
        </p:txBody>
      </p:sp>
      <p:sp>
        <p:nvSpPr>
          <p:cNvPr id="25" name="Oval 24"/>
          <p:cNvSpPr/>
          <p:nvPr/>
        </p:nvSpPr>
        <p:spPr>
          <a:xfrm>
            <a:off x="9646920" y="2011680"/>
            <a:ext cx="384048" cy="384048"/>
          </a:xfrm>
          <a:prstGeom prst="ellipse">
            <a:avLst/>
          </a:prstGeom>
          <a:solidFill>
            <a:srgbClr val="0053A6"/>
          </a:solidFill>
          <a:ln>
            <a:solidFill>
              <a:srgbClr val="00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2061972"/>
            <a:ext cx="384048" cy="31089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grandir"/>
              </a:defRPr>
            </a:pPr>
            <a:r>
              <a:t>DF</a:t>
            </a:r>
          </a:p>
        </p:txBody>
      </p:sp>
      <p:sp>
        <p:nvSpPr>
          <p:cNvPr id="27" name="Oval 26"/>
          <p:cNvSpPr/>
          <p:nvPr/>
        </p:nvSpPr>
        <p:spPr>
          <a:xfrm>
            <a:off x="841248" y="6839712"/>
            <a:ext cx="384048" cy="384048"/>
          </a:xfrm>
          <a:prstGeom prst="ellipse">
            <a:avLst/>
          </a:prstGeom>
          <a:solidFill>
            <a:srgbClr val="009A70"/>
          </a:solidFill>
          <a:ln>
            <a:solidFill>
              <a:srgbClr val="009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6890004"/>
            <a:ext cx="384048" cy="31089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grandir"/>
              </a:defRPr>
            </a:pPr>
            <a:r>
              <a:t>RO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312098"/>
            <a:ext cx="18288000" cy="784344"/>
            <a:chOff x="0" y="0"/>
            <a:chExt cx="812800" cy="34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4860"/>
            </a:xfrm>
            <a:custGeom>
              <a:avLst/>
              <a:gdLst/>
              <a:ahLst/>
              <a:cxnLst/>
              <a:rect r="r" b="b" t="t" l="l"/>
              <a:pathLst>
                <a:path h="3486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4860"/>
                  </a:lnTo>
                  <a:lnTo>
                    <a:pt x="0" y="3486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92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490499" y="9574153"/>
            <a:ext cx="25778499" cy="712847"/>
            <a:chOff x="0" y="0"/>
            <a:chExt cx="6789423" cy="187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89423" cy="187740"/>
            </a:xfrm>
            <a:custGeom>
              <a:avLst/>
              <a:gdLst/>
              <a:ahLst/>
              <a:cxnLst/>
              <a:rect r="r" b="b" t="t" l="l"/>
              <a:pathLst>
                <a:path h="187740" w="6789423">
                  <a:moveTo>
                    <a:pt x="6789423" y="30032"/>
                  </a:moveTo>
                  <a:lnTo>
                    <a:pt x="6789423" y="157708"/>
                  </a:lnTo>
                  <a:cubicBezTo>
                    <a:pt x="6789423" y="165673"/>
                    <a:pt x="6786259" y="173311"/>
                    <a:pt x="6780626" y="178944"/>
                  </a:cubicBezTo>
                  <a:cubicBezTo>
                    <a:pt x="6774994" y="184576"/>
                    <a:pt x="6767355" y="187740"/>
                    <a:pt x="6759391" y="187740"/>
                  </a:cubicBezTo>
                  <a:lnTo>
                    <a:pt x="30032" y="187740"/>
                  </a:lnTo>
                  <a:cubicBezTo>
                    <a:pt x="22067" y="187740"/>
                    <a:pt x="14428" y="184576"/>
                    <a:pt x="8796" y="178944"/>
                  </a:cubicBezTo>
                  <a:cubicBezTo>
                    <a:pt x="3164" y="173311"/>
                    <a:pt x="0" y="165673"/>
                    <a:pt x="0" y="157708"/>
                  </a:cubicBezTo>
                  <a:lnTo>
                    <a:pt x="0" y="30032"/>
                  </a:lnTo>
                  <a:cubicBezTo>
                    <a:pt x="0" y="22067"/>
                    <a:pt x="3164" y="14428"/>
                    <a:pt x="8796" y="8796"/>
                  </a:cubicBezTo>
                  <a:cubicBezTo>
                    <a:pt x="14428" y="3164"/>
                    <a:pt x="22067" y="0"/>
                    <a:pt x="30032" y="0"/>
                  </a:cubicBezTo>
                  <a:lnTo>
                    <a:pt x="6759391" y="0"/>
                  </a:lnTo>
                  <a:cubicBezTo>
                    <a:pt x="6767355" y="0"/>
                    <a:pt x="6774994" y="3164"/>
                    <a:pt x="6780626" y="8796"/>
                  </a:cubicBezTo>
                  <a:cubicBezTo>
                    <a:pt x="6786259" y="14428"/>
                    <a:pt x="6789423" y="22067"/>
                    <a:pt x="6789423" y="300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789423" cy="24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86388" y="9574153"/>
            <a:ext cx="1934732" cy="1317605"/>
            <a:chOff x="0" y="0"/>
            <a:chExt cx="509559" cy="3470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59" cy="347024"/>
            </a:xfrm>
            <a:custGeom>
              <a:avLst/>
              <a:gdLst/>
              <a:ahLst/>
              <a:cxnLst/>
              <a:rect r="r" b="b" t="t" l="l"/>
              <a:pathLst>
                <a:path h="347024" w="509559">
                  <a:moveTo>
                    <a:pt x="173512" y="0"/>
                  </a:moveTo>
                  <a:lnTo>
                    <a:pt x="336047" y="0"/>
                  </a:lnTo>
                  <a:cubicBezTo>
                    <a:pt x="431875" y="0"/>
                    <a:pt x="509559" y="77684"/>
                    <a:pt x="509559" y="173512"/>
                  </a:cubicBezTo>
                  <a:lnTo>
                    <a:pt x="509559" y="173512"/>
                  </a:lnTo>
                  <a:cubicBezTo>
                    <a:pt x="509559" y="269340"/>
                    <a:pt x="431875" y="347024"/>
                    <a:pt x="336047" y="347024"/>
                  </a:cubicBezTo>
                  <a:lnTo>
                    <a:pt x="173512" y="347024"/>
                  </a:lnTo>
                  <a:cubicBezTo>
                    <a:pt x="77684" y="347024"/>
                    <a:pt x="0" y="269340"/>
                    <a:pt x="0" y="173512"/>
                  </a:cubicBezTo>
                  <a:lnTo>
                    <a:pt x="0" y="173512"/>
                  </a:lnTo>
                  <a:cubicBezTo>
                    <a:pt x="0" y="77684"/>
                    <a:pt x="77684" y="0"/>
                    <a:pt x="173512" y="0"/>
                  </a:cubicBezTo>
                  <a:close/>
                </a:path>
              </a:pathLst>
            </a:custGeom>
            <a:solidFill>
              <a:srgbClr val="D2E2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9559" cy="404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09576" y="399170"/>
            <a:ext cx="219151" cy="610200"/>
            <a:chOff x="0" y="0"/>
            <a:chExt cx="292202" cy="813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227" cy="813562"/>
            </a:xfrm>
            <a:custGeom>
              <a:avLst/>
              <a:gdLst/>
              <a:ahLst/>
              <a:cxnLst/>
              <a:rect r="r" b="b" t="t" l="l"/>
              <a:pathLst>
                <a:path h="813562" w="292227">
                  <a:moveTo>
                    <a:pt x="0" y="0"/>
                  </a:moveTo>
                  <a:lnTo>
                    <a:pt x="292227" y="0"/>
                  </a:lnTo>
                  <a:lnTo>
                    <a:pt x="292227" y="813562"/>
                  </a:lnTo>
                  <a:lnTo>
                    <a:pt x="0" y="8135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aphicFrame>
        <p:nvGraphicFramePr>
          <p:cNvPr name="Object 13" id="13"/>
          <p:cNvGraphicFramePr/>
          <p:nvPr/>
        </p:nvGraphicFramePr>
        <p:xfrm>
          <a:off x="1028700" y="2130196"/>
          <a:ext cx="7586157" cy="4274588"/>
        </p:xfrm>
        <a:graphic>
          <a:graphicData uri="http://schemas.openxmlformats.org/presentationml/2006/ole">
            <p:oleObj imgW="9105900" imgH="5791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4115793" y="9665672"/>
            <a:ext cx="12670595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Blockchainist Research Team - University of Information Technology, VNU-HCM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67708"/>
            <a:ext cx="16230600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Related Work: Comparison with Existing Approaches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59300" y="9671320"/>
            <a:ext cx="60683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1391594"/>
            <a:ext cx="16230600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500" i="true">
                <a:solidFill>
                  <a:srgbClr val="0D47A1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Table I. </a:t>
            </a:r>
            <a:r>
              <a:rPr lang="en-US" sz="2500" i="true">
                <a:solidFill>
                  <a:srgbClr val="0D47A1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Comparison with representative analysis and MEV frameworks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488301"/>
            <a:ext cx="16230600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8549640" y="5440680"/>
            <a:ext cx="7726679" cy="2743200"/>
          </a:xfrm>
          <a:prstGeom prst="roundRect">
            <a:avLst/>
          </a:prstGeom>
          <a:solidFill>
            <a:srgbClr val="F6FBFF"/>
          </a:solidFill>
          <a:ln w="13970">
            <a:solidFill>
              <a:srgbClr val="B7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7968" y="5650992"/>
            <a:ext cx="7132320" cy="34747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600" b="1">
                <a:solidFill>
                  <a:srgbClr val="003E7D"/>
                </a:solidFill>
                <a:latin typeface="Agrandir"/>
              </a:defRPr>
            </a:pPr>
            <a:r>
              <a:t>Research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6144768"/>
            <a:ext cx="32004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CD4646"/>
                </a:solidFill>
                <a:latin typeface="Agrandir"/>
              </a:defRPr>
            </a:pPr>
            <a: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6144768"/>
            <a:ext cx="649224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350" b="0">
                <a:solidFill>
                  <a:srgbClr val="1D3A60"/>
                </a:solidFill>
                <a:latin typeface="Agrandir"/>
              </a:defRPr>
            </a:pPr>
            <a:r>
              <a:t>Static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6528816"/>
            <a:ext cx="32004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CD4646"/>
                </a:solidFill>
                <a:latin typeface="Agrandir"/>
              </a:defRPr>
            </a:pPr>
            <a:r>
              <a:t>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6528816"/>
            <a:ext cx="649224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350" b="0">
                <a:solidFill>
                  <a:srgbClr val="1D3A60"/>
                </a:solidFill>
                <a:latin typeface="Agrandir"/>
              </a:defRPr>
            </a:pPr>
            <a:r>
              <a:t>Dynamic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6912864"/>
            <a:ext cx="32004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CD4646"/>
                </a:solidFill>
                <a:latin typeface="Agrandir"/>
              </a:defRPr>
            </a:pPr>
            <a:r>
              <a:t>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6912864"/>
            <a:ext cx="649224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350" b="0">
                <a:solidFill>
                  <a:srgbClr val="1D3A60"/>
                </a:solidFill>
                <a:latin typeface="Agrandir"/>
              </a:defRPr>
            </a:pPr>
            <a:r>
              <a:t>No replayable witness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7296912"/>
            <a:ext cx="32004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009A70"/>
                </a:solidFill>
                <a:latin typeface="Agrandir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7296912"/>
            <a:ext cx="649224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350" b="1">
                <a:solidFill>
                  <a:srgbClr val="1D3A60"/>
                </a:solidFill>
                <a:latin typeface="Agrandir"/>
              </a:defRPr>
            </a:pPr>
            <a:r>
              <a:t>PRECISE integrates all.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312098"/>
            <a:ext cx="18288000" cy="784344"/>
            <a:chOff x="0" y="0"/>
            <a:chExt cx="812800" cy="34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4860"/>
            </a:xfrm>
            <a:custGeom>
              <a:avLst/>
              <a:gdLst/>
              <a:ahLst/>
              <a:cxnLst/>
              <a:rect r="r" b="b" t="t" l="l"/>
              <a:pathLst>
                <a:path h="3486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4860"/>
                  </a:lnTo>
                  <a:lnTo>
                    <a:pt x="0" y="3486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92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490499" y="9574153"/>
            <a:ext cx="25778499" cy="712847"/>
            <a:chOff x="0" y="0"/>
            <a:chExt cx="6789423" cy="187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89423" cy="187740"/>
            </a:xfrm>
            <a:custGeom>
              <a:avLst/>
              <a:gdLst/>
              <a:ahLst/>
              <a:cxnLst/>
              <a:rect r="r" b="b" t="t" l="l"/>
              <a:pathLst>
                <a:path h="187740" w="6789423">
                  <a:moveTo>
                    <a:pt x="6789423" y="30032"/>
                  </a:moveTo>
                  <a:lnTo>
                    <a:pt x="6789423" y="157708"/>
                  </a:lnTo>
                  <a:cubicBezTo>
                    <a:pt x="6789423" y="165673"/>
                    <a:pt x="6786259" y="173311"/>
                    <a:pt x="6780626" y="178944"/>
                  </a:cubicBezTo>
                  <a:cubicBezTo>
                    <a:pt x="6774994" y="184576"/>
                    <a:pt x="6767355" y="187740"/>
                    <a:pt x="6759391" y="187740"/>
                  </a:cubicBezTo>
                  <a:lnTo>
                    <a:pt x="30032" y="187740"/>
                  </a:lnTo>
                  <a:cubicBezTo>
                    <a:pt x="22067" y="187740"/>
                    <a:pt x="14428" y="184576"/>
                    <a:pt x="8796" y="178944"/>
                  </a:cubicBezTo>
                  <a:cubicBezTo>
                    <a:pt x="3164" y="173311"/>
                    <a:pt x="0" y="165673"/>
                    <a:pt x="0" y="157708"/>
                  </a:cubicBezTo>
                  <a:lnTo>
                    <a:pt x="0" y="30032"/>
                  </a:lnTo>
                  <a:cubicBezTo>
                    <a:pt x="0" y="22067"/>
                    <a:pt x="3164" y="14428"/>
                    <a:pt x="8796" y="8796"/>
                  </a:cubicBezTo>
                  <a:cubicBezTo>
                    <a:pt x="14428" y="3164"/>
                    <a:pt x="22067" y="0"/>
                    <a:pt x="30032" y="0"/>
                  </a:cubicBezTo>
                  <a:lnTo>
                    <a:pt x="6759391" y="0"/>
                  </a:lnTo>
                  <a:cubicBezTo>
                    <a:pt x="6767355" y="0"/>
                    <a:pt x="6774994" y="3164"/>
                    <a:pt x="6780626" y="8796"/>
                  </a:cubicBezTo>
                  <a:cubicBezTo>
                    <a:pt x="6786259" y="14428"/>
                    <a:pt x="6789423" y="22067"/>
                    <a:pt x="6789423" y="300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789423" cy="24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86388" y="9574153"/>
            <a:ext cx="1934732" cy="1317605"/>
            <a:chOff x="0" y="0"/>
            <a:chExt cx="509559" cy="3470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59" cy="347024"/>
            </a:xfrm>
            <a:custGeom>
              <a:avLst/>
              <a:gdLst/>
              <a:ahLst/>
              <a:cxnLst/>
              <a:rect r="r" b="b" t="t" l="l"/>
              <a:pathLst>
                <a:path h="347024" w="509559">
                  <a:moveTo>
                    <a:pt x="173512" y="0"/>
                  </a:moveTo>
                  <a:lnTo>
                    <a:pt x="336047" y="0"/>
                  </a:lnTo>
                  <a:cubicBezTo>
                    <a:pt x="431875" y="0"/>
                    <a:pt x="509559" y="77684"/>
                    <a:pt x="509559" y="173512"/>
                  </a:cubicBezTo>
                  <a:lnTo>
                    <a:pt x="509559" y="173512"/>
                  </a:lnTo>
                  <a:cubicBezTo>
                    <a:pt x="509559" y="269340"/>
                    <a:pt x="431875" y="347024"/>
                    <a:pt x="336047" y="347024"/>
                  </a:cubicBezTo>
                  <a:lnTo>
                    <a:pt x="173512" y="347024"/>
                  </a:lnTo>
                  <a:cubicBezTo>
                    <a:pt x="77684" y="347024"/>
                    <a:pt x="0" y="269340"/>
                    <a:pt x="0" y="173512"/>
                  </a:cubicBezTo>
                  <a:lnTo>
                    <a:pt x="0" y="173512"/>
                  </a:lnTo>
                  <a:cubicBezTo>
                    <a:pt x="0" y="77684"/>
                    <a:pt x="77684" y="0"/>
                    <a:pt x="173512" y="0"/>
                  </a:cubicBezTo>
                  <a:close/>
                </a:path>
              </a:pathLst>
            </a:custGeom>
            <a:solidFill>
              <a:srgbClr val="D2E2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9559" cy="404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09576" y="399170"/>
            <a:ext cx="219151" cy="610200"/>
            <a:chOff x="0" y="0"/>
            <a:chExt cx="292202" cy="813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227" cy="813562"/>
            </a:xfrm>
            <a:custGeom>
              <a:avLst/>
              <a:gdLst/>
              <a:ahLst/>
              <a:cxnLst/>
              <a:rect r="r" b="b" t="t" l="l"/>
              <a:pathLst>
                <a:path h="813562" w="292227">
                  <a:moveTo>
                    <a:pt x="0" y="0"/>
                  </a:moveTo>
                  <a:lnTo>
                    <a:pt x="292227" y="0"/>
                  </a:lnTo>
                  <a:lnTo>
                    <a:pt x="292227" y="813562"/>
                  </a:lnTo>
                  <a:lnTo>
                    <a:pt x="0" y="8135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115793" y="9665672"/>
            <a:ext cx="12670595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Blockchainist Research Team - University of Information Technology, VNU-HCM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67708"/>
            <a:ext cx="16230600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Methodology: PRECISE Hybrid Architecture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671320"/>
            <a:ext cx="60683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949440"/>
            <a:ext cx="16230600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500" i="true">
                <a:solidFill>
                  <a:srgbClr val="0D47A1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Figure 1. </a:t>
            </a:r>
            <a:r>
              <a:rPr lang="en-US" sz="2500" i="true">
                <a:solidFill>
                  <a:srgbClr val="0D47A1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Overview of the PRECISE framework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1783080"/>
            <a:ext cx="16230293" cy="5074920"/>
            <a:chOff x="0" y="0"/>
            <a:chExt cx="21640391" cy="76465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818534"/>
              <a:ext cx="1464377" cy="1624829"/>
            </a:xfrm>
            <a:custGeom>
              <a:avLst/>
              <a:gdLst/>
              <a:ahLst/>
              <a:cxnLst/>
              <a:rect r="r" b="b" t="t" l="l"/>
              <a:pathLst>
                <a:path h="1624829" w="1464377">
                  <a:moveTo>
                    <a:pt x="0" y="0"/>
                  </a:moveTo>
                  <a:lnTo>
                    <a:pt x="1464377" y="0"/>
                  </a:lnTo>
                  <a:lnTo>
                    <a:pt x="1464377" y="1624829"/>
                  </a:lnTo>
                  <a:lnTo>
                    <a:pt x="0" y="1624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9" id="19"/>
            <p:cNvGrpSpPr/>
            <p:nvPr/>
          </p:nvGrpSpPr>
          <p:grpSpPr>
            <a:xfrm rot="0">
              <a:off x="2749083" y="456545"/>
              <a:ext cx="11128713" cy="2805351"/>
              <a:chOff x="0" y="0"/>
              <a:chExt cx="4567154" cy="115129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567154" cy="1151299"/>
              </a:xfrm>
              <a:custGeom>
                <a:avLst/>
                <a:gdLst/>
                <a:ahLst/>
                <a:cxnLst/>
                <a:rect r="r" b="b" t="t" l="l"/>
                <a:pathLst>
                  <a:path h="1151299" w="4567154">
                    <a:moveTo>
                      <a:pt x="15769" y="0"/>
                    </a:moveTo>
                    <a:lnTo>
                      <a:pt x="4551386" y="0"/>
                    </a:lnTo>
                    <a:cubicBezTo>
                      <a:pt x="4555568" y="0"/>
                      <a:pt x="4559579" y="1661"/>
                      <a:pt x="4562536" y="4618"/>
                    </a:cubicBezTo>
                    <a:cubicBezTo>
                      <a:pt x="4565493" y="7576"/>
                      <a:pt x="4567154" y="11586"/>
                      <a:pt x="4567154" y="15769"/>
                    </a:cubicBezTo>
                    <a:lnTo>
                      <a:pt x="4567154" y="1135530"/>
                    </a:lnTo>
                    <a:cubicBezTo>
                      <a:pt x="4567154" y="1144239"/>
                      <a:pt x="4560095" y="1151299"/>
                      <a:pt x="4551386" y="1151299"/>
                    </a:cubicBezTo>
                    <a:lnTo>
                      <a:pt x="15769" y="1151299"/>
                    </a:lnTo>
                    <a:cubicBezTo>
                      <a:pt x="11586" y="1151299"/>
                      <a:pt x="7576" y="1149637"/>
                      <a:pt x="4618" y="1146680"/>
                    </a:cubicBezTo>
                    <a:cubicBezTo>
                      <a:pt x="1661" y="1143723"/>
                      <a:pt x="0" y="1139712"/>
                      <a:pt x="0" y="1135530"/>
                    </a:cubicBezTo>
                    <a:lnTo>
                      <a:pt x="0" y="15769"/>
                    </a:lnTo>
                    <a:cubicBezTo>
                      <a:pt x="0" y="11586"/>
                      <a:pt x="1661" y="7576"/>
                      <a:pt x="4618" y="4618"/>
                    </a:cubicBezTo>
                    <a:cubicBezTo>
                      <a:pt x="7576" y="1661"/>
                      <a:pt x="11586" y="0"/>
                      <a:pt x="15769" y="0"/>
                    </a:cubicBezTo>
                    <a:close/>
                  </a:path>
                </a:pathLst>
              </a:custGeom>
              <a:ln w="9525" cap="sq">
                <a:solidFill>
                  <a:srgbClr val="000000"/>
                </a:solidFill>
                <a:prstDash val="dash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4567154" cy="1179874"/>
              </a:xfrm>
              <a:prstGeom prst="rect">
                <a:avLst/>
              </a:prstGeom>
            </p:spPr>
            <p:txBody>
              <a:bodyPr anchor="ctr" rtlCol="false" tIns="46491" lIns="46491" bIns="46491" rIns="46491"/>
              <a:lstStyle/>
              <a:p>
                <a:pPr algn="ctr">
                  <a:lnSpc>
                    <a:spcPts val="1027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2984288" y="818534"/>
              <a:ext cx="1903167" cy="1624829"/>
            </a:xfrm>
            <a:custGeom>
              <a:avLst/>
              <a:gdLst/>
              <a:ahLst/>
              <a:cxnLst/>
              <a:rect r="r" b="b" t="t" l="l"/>
              <a:pathLst>
                <a:path h="1624829" w="1903167">
                  <a:moveTo>
                    <a:pt x="0" y="0"/>
                  </a:moveTo>
                  <a:lnTo>
                    <a:pt x="1903167" y="0"/>
                  </a:lnTo>
                  <a:lnTo>
                    <a:pt x="1903167" y="1624829"/>
                  </a:lnTo>
                  <a:lnTo>
                    <a:pt x="0" y="1624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23" id="23"/>
            <p:cNvSpPr/>
            <p:nvPr/>
          </p:nvSpPr>
          <p:spPr>
            <a:xfrm>
              <a:off x="1464377" y="1630948"/>
              <a:ext cx="1284706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24" id="24"/>
            <p:cNvGrpSpPr/>
            <p:nvPr/>
          </p:nvGrpSpPr>
          <p:grpSpPr>
            <a:xfrm rot="0">
              <a:off x="6173707" y="602793"/>
              <a:ext cx="4353705" cy="2499504"/>
              <a:chOff x="0" y="0"/>
              <a:chExt cx="1786733" cy="102578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786733" cy="1025781"/>
              </a:xfrm>
              <a:custGeom>
                <a:avLst/>
                <a:gdLst/>
                <a:ahLst/>
                <a:cxnLst/>
                <a:rect r="r" b="b" t="t" l="l"/>
                <a:pathLst>
                  <a:path h="1025781" w="1786733">
                    <a:moveTo>
                      <a:pt x="0" y="0"/>
                    </a:moveTo>
                    <a:lnTo>
                      <a:pt x="1786733" y="0"/>
                    </a:lnTo>
                    <a:lnTo>
                      <a:pt x="1786733" y="1025781"/>
                    </a:lnTo>
                    <a:lnTo>
                      <a:pt x="0" y="1025781"/>
                    </a:lnTo>
                    <a:close/>
                  </a:path>
                </a:pathLst>
              </a:custGeom>
              <a:solidFill>
                <a:srgbClr val="F8FA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1786733" cy="1054356"/>
              </a:xfrm>
              <a:prstGeom prst="rect">
                <a:avLst/>
              </a:prstGeom>
            </p:spPr>
            <p:txBody>
              <a:bodyPr anchor="ctr" rtlCol="false" tIns="46491" lIns="46491" bIns="46491" rIns="46491"/>
              <a:lstStyle/>
              <a:p>
                <a:pPr algn="ctr">
                  <a:lnSpc>
                    <a:spcPts val="1027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7097922" y="818534"/>
              <a:ext cx="293743" cy="293743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6FB6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33333" lIns="33333" bIns="33333" rIns="33333"/>
              <a:lstStyle/>
              <a:p>
                <a:pPr algn="ctr">
                  <a:lnSpc>
                    <a:spcPts val="1027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6804179" y="1262039"/>
              <a:ext cx="293743" cy="293743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6FB6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33333" lIns="33333" bIns="33333" rIns="33333"/>
              <a:lstStyle/>
              <a:p>
                <a:pPr algn="ctr">
                  <a:lnSpc>
                    <a:spcPts val="1027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7391666" y="1262039"/>
              <a:ext cx="293743" cy="293743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6FB6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33333" lIns="33333" bIns="33333" rIns="33333"/>
              <a:lstStyle/>
              <a:p>
                <a:pPr algn="ctr">
                  <a:lnSpc>
                    <a:spcPts val="1027"/>
                  </a:lnSpc>
                </a:pPr>
              </a:p>
            </p:txBody>
          </p:sp>
        </p:grpSp>
        <p:sp>
          <p:nvSpPr>
            <p:cNvPr name="AutoShape 36" id="36"/>
            <p:cNvSpPr/>
            <p:nvPr/>
          </p:nvSpPr>
          <p:spPr>
            <a:xfrm flipH="true">
              <a:off x="6951051" y="1069767"/>
              <a:ext cx="190399" cy="192272"/>
            </a:xfrm>
            <a:prstGeom prst="line">
              <a:avLst/>
            </a:prstGeom>
            <a:ln cap="flat" w="12700">
              <a:solidFill>
                <a:srgbClr val="09316A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37" id="37"/>
            <p:cNvSpPr/>
            <p:nvPr/>
          </p:nvSpPr>
          <p:spPr>
            <a:xfrm>
              <a:off x="7348138" y="1069767"/>
              <a:ext cx="190399" cy="192272"/>
            </a:xfrm>
            <a:prstGeom prst="line">
              <a:avLst/>
            </a:prstGeom>
            <a:ln cap="flat" w="12700">
              <a:solidFill>
                <a:srgbClr val="09316A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38" id="38"/>
            <p:cNvGrpSpPr/>
            <p:nvPr/>
          </p:nvGrpSpPr>
          <p:grpSpPr>
            <a:xfrm rot="0">
              <a:off x="7097922" y="1705829"/>
              <a:ext cx="293743" cy="293743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6FB6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33333" lIns="33333" bIns="33333" rIns="33333"/>
              <a:lstStyle/>
              <a:p>
                <a:pPr algn="ctr">
                  <a:lnSpc>
                    <a:spcPts val="1027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7685409" y="1705829"/>
              <a:ext cx="293743" cy="293743"/>
              <a:chOff x="0" y="0"/>
              <a:chExt cx="812800" cy="8128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6FB6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33333" lIns="33333" bIns="33333" rIns="33333"/>
              <a:lstStyle/>
              <a:p>
                <a:pPr algn="ctr">
                  <a:lnSpc>
                    <a:spcPts val="1027"/>
                  </a:lnSpc>
                </a:pPr>
              </a:p>
            </p:txBody>
          </p:sp>
        </p:grpSp>
        <p:sp>
          <p:nvSpPr>
            <p:cNvPr name="AutoShape 44" id="44"/>
            <p:cNvSpPr/>
            <p:nvPr/>
          </p:nvSpPr>
          <p:spPr>
            <a:xfrm flipH="true">
              <a:off x="7244794" y="1513321"/>
              <a:ext cx="190449" cy="192508"/>
            </a:xfrm>
            <a:prstGeom prst="line">
              <a:avLst/>
            </a:prstGeom>
            <a:ln cap="flat" w="12700">
              <a:solidFill>
                <a:srgbClr val="09316A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45" id="45"/>
            <p:cNvSpPr/>
            <p:nvPr/>
          </p:nvSpPr>
          <p:spPr>
            <a:xfrm>
              <a:off x="7641832" y="1513321"/>
              <a:ext cx="190449" cy="192508"/>
            </a:xfrm>
            <a:prstGeom prst="line">
              <a:avLst/>
            </a:prstGeom>
            <a:ln cap="flat" w="12700">
              <a:solidFill>
                <a:srgbClr val="09316A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46" id="46"/>
            <p:cNvGrpSpPr/>
            <p:nvPr/>
          </p:nvGrpSpPr>
          <p:grpSpPr>
            <a:xfrm rot="0">
              <a:off x="6804179" y="2149619"/>
              <a:ext cx="293743" cy="293743"/>
              <a:chOff x="0" y="0"/>
              <a:chExt cx="812800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6FB6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33333" lIns="33333" bIns="33333" rIns="33333"/>
              <a:lstStyle/>
              <a:p>
                <a:pPr algn="ctr">
                  <a:lnSpc>
                    <a:spcPts val="1027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7391666" y="2149619"/>
              <a:ext cx="293743" cy="293743"/>
              <a:chOff x="0" y="0"/>
              <a:chExt cx="812800" cy="8128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6FB6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33333" lIns="33333" bIns="33333" rIns="33333"/>
              <a:lstStyle/>
              <a:p>
                <a:pPr algn="ctr">
                  <a:lnSpc>
                    <a:spcPts val="1027"/>
                  </a:lnSpc>
                </a:pPr>
              </a:p>
            </p:txBody>
          </p:sp>
        </p:grpSp>
        <p:sp>
          <p:nvSpPr>
            <p:cNvPr name="AutoShape 52" id="52"/>
            <p:cNvSpPr/>
            <p:nvPr/>
          </p:nvSpPr>
          <p:spPr>
            <a:xfrm flipH="true">
              <a:off x="6951051" y="1957111"/>
              <a:ext cx="190449" cy="192508"/>
            </a:xfrm>
            <a:prstGeom prst="line">
              <a:avLst/>
            </a:prstGeom>
            <a:ln cap="flat" w="12700">
              <a:solidFill>
                <a:srgbClr val="09316A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53" id="53"/>
            <p:cNvSpPr/>
            <p:nvPr/>
          </p:nvSpPr>
          <p:spPr>
            <a:xfrm>
              <a:off x="7348088" y="1957111"/>
              <a:ext cx="190449" cy="192508"/>
            </a:xfrm>
            <a:prstGeom prst="line">
              <a:avLst/>
            </a:prstGeom>
            <a:ln cap="flat" w="12700">
              <a:solidFill>
                <a:srgbClr val="09316A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54" id="54"/>
            <p:cNvGrpSpPr/>
            <p:nvPr/>
          </p:nvGrpSpPr>
          <p:grpSpPr>
            <a:xfrm rot="0">
              <a:off x="9086133" y="818534"/>
              <a:ext cx="293743" cy="293743"/>
              <a:chOff x="0" y="0"/>
              <a:chExt cx="812800" cy="8128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6FB6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33333" lIns="33333" bIns="33333" rIns="33333"/>
              <a:lstStyle/>
              <a:p>
                <a:pPr algn="ctr">
                  <a:lnSpc>
                    <a:spcPts val="1027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8569068" y="1262039"/>
              <a:ext cx="293743" cy="293743"/>
              <a:chOff x="0" y="0"/>
              <a:chExt cx="812800" cy="8128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6FB6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33333" lIns="33333" bIns="33333" rIns="33333"/>
              <a:lstStyle/>
              <a:p>
                <a:pPr algn="ctr">
                  <a:lnSpc>
                    <a:spcPts val="1027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9603198" y="1262039"/>
              <a:ext cx="293743" cy="293743"/>
              <a:chOff x="0" y="0"/>
              <a:chExt cx="812800" cy="8128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6FB6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33333" lIns="33333" bIns="33333" rIns="33333"/>
              <a:lstStyle/>
              <a:p>
                <a:pPr algn="ctr">
                  <a:lnSpc>
                    <a:spcPts val="1027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9086133" y="2149619"/>
              <a:ext cx="293743" cy="293743"/>
              <a:chOff x="0" y="0"/>
              <a:chExt cx="812800" cy="81280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6FB6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33333" lIns="33333" bIns="33333" rIns="33333"/>
              <a:lstStyle/>
              <a:p>
                <a:pPr algn="ctr">
                  <a:lnSpc>
                    <a:spcPts val="1027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8569068" y="1706538"/>
              <a:ext cx="293743" cy="293743"/>
              <a:chOff x="0" y="0"/>
              <a:chExt cx="812800" cy="8128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6FB6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33333" lIns="33333" bIns="33333" rIns="33333"/>
              <a:lstStyle/>
              <a:p>
                <a:pPr algn="ctr">
                  <a:lnSpc>
                    <a:spcPts val="1027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0">
              <a:off x="9603198" y="1706538"/>
              <a:ext cx="293743" cy="293743"/>
              <a:chOff x="0" y="0"/>
              <a:chExt cx="812800" cy="8128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6FB6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33333" lIns="33333" bIns="33333" rIns="33333"/>
              <a:lstStyle/>
              <a:p>
                <a:pPr algn="ctr">
                  <a:lnSpc>
                    <a:spcPts val="1027"/>
                  </a:lnSpc>
                </a:pPr>
              </a:p>
            </p:txBody>
          </p:sp>
        </p:grpSp>
        <p:grpSp>
          <p:nvGrpSpPr>
            <p:cNvPr name="Group 72" id="72"/>
            <p:cNvGrpSpPr/>
            <p:nvPr/>
          </p:nvGrpSpPr>
          <p:grpSpPr>
            <a:xfrm rot="0">
              <a:off x="9086133" y="1484077"/>
              <a:ext cx="293743" cy="293743"/>
              <a:chOff x="0" y="0"/>
              <a:chExt cx="812800" cy="812800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6FB6"/>
              </a:solid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33333" lIns="33333" bIns="33333" rIns="33333"/>
              <a:lstStyle/>
              <a:p>
                <a:pPr algn="ctr">
                  <a:lnSpc>
                    <a:spcPts val="1027"/>
                  </a:lnSpc>
                </a:pPr>
              </a:p>
            </p:txBody>
          </p:sp>
        </p:grpSp>
        <p:sp>
          <p:nvSpPr>
            <p:cNvPr name="AutoShape 75" id="75"/>
            <p:cNvSpPr/>
            <p:nvPr/>
          </p:nvSpPr>
          <p:spPr>
            <a:xfrm flipH="true">
              <a:off x="8827423" y="1061028"/>
              <a:ext cx="294099" cy="252259"/>
            </a:xfrm>
            <a:prstGeom prst="line">
              <a:avLst/>
            </a:prstGeom>
            <a:ln cap="flat" w="12700">
              <a:solidFill>
                <a:srgbClr val="09316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6" id="76"/>
            <p:cNvSpPr/>
            <p:nvPr/>
          </p:nvSpPr>
          <p:spPr>
            <a:xfrm>
              <a:off x="9344487" y="1061028"/>
              <a:ext cx="294099" cy="252259"/>
            </a:xfrm>
            <a:prstGeom prst="line">
              <a:avLst/>
            </a:prstGeom>
            <a:ln cap="flat" w="12700">
              <a:solidFill>
                <a:srgbClr val="09316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7" id="77"/>
            <p:cNvSpPr/>
            <p:nvPr/>
          </p:nvSpPr>
          <p:spPr>
            <a:xfrm flipH="true">
              <a:off x="9306948" y="1535839"/>
              <a:ext cx="369179" cy="633724"/>
            </a:xfrm>
            <a:prstGeom prst="line">
              <a:avLst/>
            </a:prstGeom>
            <a:ln cap="flat" w="12700">
              <a:solidFill>
                <a:srgbClr val="09316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8" id="78"/>
            <p:cNvSpPr/>
            <p:nvPr/>
          </p:nvSpPr>
          <p:spPr>
            <a:xfrm flipH="true" flipV="true">
              <a:off x="8827468" y="1948980"/>
              <a:ext cx="294009" cy="251941"/>
            </a:xfrm>
            <a:prstGeom prst="line">
              <a:avLst/>
            </a:prstGeom>
            <a:ln cap="flat" w="12700">
              <a:solidFill>
                <a:srgbClr val="09316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9" id="79"/>
            <p:cNvSpPr/>
            <p:nvPr/>
          </p:nvSpPr>
          <p:spPr>
            <a:xfrm flipV="true">
              <a:off x="9344533" y="1948980"/>
              <a:ext cx="294009" cy="251941"/>
            </a:xfrm>
            <a:prstGeom prst="line">
              <a:avLst/>
            </a:prstGeom>
            <a:ln cap="flat" w="12700">
              <a:solidFill>
                <a:srgbClr val="09316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0" id="80"/>
            <p:cNvSpPr/>
            <p:nvPr/>
          </p:nvSpPr>
          <p:spPr>
            <a:xfrm>
              <a:off x="8789883" y="1535839"/>
              <a:ext cx="369179" cy="633724"/>
            </a:xfrm>
            <a:prstGeom prst="line">
              <a:avLst/>
            </a:prstGeom>
            <a:ln cap="flat" w="12700">
              <a:solidFill>
                <a:srgbClr val="09316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1" id="81"/>
            <p:cNvSpPr/>
            <p:nvPr/>
          </p:nvSpPr>
          <p:spPr>
            <a:xfrm>
              <a:off x="9306921" y="1092349"/>
              <a:ext cx="369232" cy="634117"/>
            </a:xfrm>
            <a:prstGeom prst="line">
              <a:avLst/>
            </a:prstGeom>
            <a:ln cap="flat" w="12700">
              <a:solidFill>
                <a:srgbClr val="09316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2" id="82"/>
            <p:cNvSpPr/>
            <p:nvPr/>
          </p:nvSpPr>
          <p:spPr>
            <a:xfrm flipH="true">
              <a:off x="8789857" y="1092349"/>
              <a:ext cx="369232" cy="634117"/>
            </a:xfrm>
            <a:prstGeom prst="line">
              <a:avLst/>
            </a:prstGeom>
            <a:ln cap="flat" w="12700">
              <a:solidFill>
                <a:srgbClr val="09316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3" id="83"/>
            <p:cNvSpPr/>
            <p:nvPr/>
          </p:nvSpPr>
          <p:spPr>
            <a:xfrm>
              <a:off x="8850930" y="1466877"/>
              <a:ext cx="247086" cy="106104"/>
            </a:xfrm>
            <a:prstGeom prst="line">
              <a:avLst/>
            </a:prstGeom>
            <a:ln cap="flat" w="12700">
              <a:solidFill>
                <a:srgbClr val="09316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4" id="84"/>
            <p:cNvSpPr/>
            <p:nvPr/>
          </p:nvSpPr>
          <p:spPr>
            <a:xfrm flipV="true">
              <a:off x="8850889" y="1689009"/>
              <a:ext cx="247166" cy="106341"/>
            </a:xfrm>
            <a:prstGeom prst="line">
              <a:avLst/>
            </a:prstGeom>
            <a:ln cap="flat" w="12700">
              <a:solidFill>
                <a:srgbClr val="09316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5" id="85"/>
            <p:cNvSpPr/>
            <p:nvPr/>
          </p:nvSpPr>
          <p:spPr>
            <a:xfrm flipV="true">
              <a:off x="9367994" y="1466877"/>
              <a:ext cx="247086" cy="106104"/>
            </a:xfrm>
            <a:prstGeom prst="line">
              <a:avLst/>
            </a:prstGeom>
            <a:ln cap="flat" w="12700">
              <a:solidFill>
                <a:srgbClr val="09316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6" id="86"/>
            <p:cNvSpPr/>
            <p:nvPr/>
          </p:nvSpPr>
          <p:spPr>
            <a:xfrm flipH="true" flipV="true">
              <a:off x="9367954" y="1689009"/>
              <a:ext cx="247166" cy="106341"/>
            </a:xfrm>
            <a:prstGeom prst="line">
              <a:avLst/>
            </a:prstGeom>
            <a:ln cap="flat" w="12700">
              <a:solidFill>
                <a:srgbClr val="09316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7" id="87"/>
            <p:cNvSpPr/>
            <p:nvPr/>
          </p:nvSpPr>
          <p:spPr>
            <a:xfrm>
              <a:off x="9237839" y="1112199"/>
              <a:ext cx="17634" cy="535479"/>
            </a:xfrm>
            <a:prstGeom prst="line">
              <a:avLst/>
            </a:prstGeom>
            <a:ln cap="flat" w="12700">
              <a:solidFill>
                <a:srgbClr val="09316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8" id="88"/>
            <p:cNvSpPr/>
            <p:nvPr/>
          </p:nvSpPr>
          <p:spPr>
            <a:xfrm>
              <a:off x="9235939" y="1777791"/>
              <a:ext cx="10365" cy="518700"/>
            </a:xfrm>
            <a:prstGeom prst="line">
              <a:avLst/>
            </a:prstGeom>
            <a:ln cap="flat" w="12700">
              <a:solidFill>
                <a:srgbClr val="09316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11812119" y="818534"/>
              <a:ext cx="1721673" cy="1624829"/>
            </a:xfrm>
            <a:custGeom>
              <a:avLst/>
              <a:gdLst/>
              <a:ahLst/>
              <a:cxnLst/>
              <a:rect r="r" b="b" t="t" l="l"/>
              <a:pathLst>
                <a:path h="1624829" w="1721673">
                  <a:moveTo>
                    <a:pt x="0" y="0"/>
                  </a:moveTo>
                  <a:lnTo>
                    <a:pt x="1721673" y="0"/>
                  </a:lnTo>
                  <a:lnTo>
                    <a:pt x="1721673" y="1624829"/>
                  </a:lnTo>
                  <a:lnTo>
                    <a:pt x="0" y="1624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90" id="90"/>
            <p:cNvSpPr/>
            <p:nvPr/>
          </p:nvSpPr>
          <p:spPr>
            <a:xfrm flipV="true">
              <a:off x="4887455" y="1630948"/>
              <a:ext cx="1286252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91" id="91"/>
            <p:cNvSpPr/>
            <p:nvPr/>
          </p:nvSpPr>
          <p:spPr>
            <a:xfrm>
              <a:off x="10527413" y="1630948"/>
              <a:ext cx="1284706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92" id="92"/>
            <p:cNvGrpSpPr/>
            <p:nvPr/>
          </p:nvGrpSpPr>
          <p:grpSpPr>
            <a:xfrm rot="0">
              <a:off x="652544" y="4246089"/>
              <a:ext cx="5560709" cy="2805351"/>
              <a:chOff x="0" y="0"/>
              <a:chExt cx="2282080" cy="1151299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2282080" cy="1151299"/>
              </a:xfrm>
              <a:custGeom>
                <a:avLst/>
                <a:gdLst/>
                <a:ahLst/>
                <a:cxnLst/>
                <a:rect r="r" b="b" t="t" l="l"/>
                <a:pathLst>
                  <a:path h="1151299" w="2282080">
                    <a:moveTo>
                      <a:pt x="31558" y="0"/>
                    </a:moveTo>
                    <a:lnTo>
                      <a:pt x="2250522" y="0"/>
                    </a:lnTo>
                    <a:cubicBezTo>
                      <a:pt x="2267951" y="0"/>
                      <a:pt x="2282080" y="14129"/>
                      <a:pt x="2282080" y="31558"/>
                    </a:cubicBezTo>
                    <a:lnTo>
                      <a:pt x="2282080" y="1119741"/>
                    </a:lnTo>
                    <a:cubicBezTo>
                      <a:pt x="2282080" y="1128111"/>
                      <a:pt x="2278755" y="1136137"/>
                      <a:pt x="2272837" y="1142056"/>
                    </a:cubicBezTo>
                    <a:cubicBezTo>
                      <a:pt x="2266919" y="1147974"/>
                      <a:pt x="2258892" y="1151299"/>
                      <a:pt x="2250522" y="1151299"/>
                    </a:cubicBezTo>
                    <a:lnTo>
                      <a:pt x="31558" y="1151299"/>
                    </a:lnTo>
                    <a:cubicBezTo>
                      <a:pt x="23188" y="1151299"/>
                      <a:pt x="15161" y="1147974"/>
                      <a:pt x="9243" y="1142056"/>
                    </a:cubicBezTo>
                    <a:cubicBezTo>
                      <a:pt x="3325" y="1136137"/>
                      <a:pt x="0" y="1128111"/>
                      <a:pt x="0" y="1119741"/>
                    </a:cubicBezTo>
                    <a:lnTo>
                      <a:pt x="0" y="31558"/>
                    </a:lnTo>
                    <a:cubicBezTo>
                      <a:pt x="0" y="23188"/>
                      <a:pt x="3325" y="15161"/>
                      <a:pt x="9243" y="9243"/>
                    </a:cubicBezTo>
                    <a:cubicBezTo>
                      <a:pt x="15161" y="3325"/>
                      <a:pt x="23188" y="0"/>
                      <a:pt x="31558" y="0"/>
                    </a:cubicBezTo>
                    <a:close/>
                  </a:path>
                </a:pathLst>
              </a:custGeom>
              <a:ln w="9525" cap="sq">
                <a:solidFill>
                  <a:srgbClr val="000000"/>
                </a:solidFill>
                <a:prstDash val="dash"/>
                <a:miter/>
              </a:ln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28575"/>
                <a:ext cx="2282080" cy="1179874"/>
              </a:xfrm>
              <a:prstGeom prst="rect">
                <a:avLst/>
              </a:prstGeom>
            </p:spPr>
            <p:txBody>
              <a:bodyPr anchor="ctr" rtlCol="false" tIns="46491" lIns="46491" bIns="46491" rIns="46491"/>
              <a:lstStyle/>
              <a:p>
                <a:pPr algn="ctr">
                  <a:lnSpc>
                    <a:spcPts val="1027"/>
                  </a:lnSpc>
                </a:pPr>
              </a:p>
            </p:txBody>
          </p:sp>
        </p:grpSp>
        <p:sp>
          <p:nvSpPr>
            <p:cNvPr name="Freeform 95" id="95"/>
            <p:cNvSpPr/>
            <p:nvPr/>
          </p:nvSpPr>
          <p:spPr>
            <a:xfrm flipH="false" flipV="false" rot="0">
              <a:off x="999223" y="4608078"/>
              <a:ext cx="2009062" cy="1624829"/>
            </a:xfrm>
            <a:custGeom>
              <a:avLst/>
              <a:gdLst/>
              <a:ahLst/>
              <a:cxnLst/>
              <a:rect r="r" b="b" t="t" l="l"/>
              <a:pathLst>
                <a:path h="1624829" w="2009062">
                  <a:moveTo>
                    <a:pt x="0" y="0"/>
                  </a:moveTo>
                  <a:lnTo>
                    <a:pt x="2009062" y="0"/>
                  </a:lnTo>
                  <a:lnTo>
                    <a:pt x="2009062" y="1624828"/>
                  </a:lnTo>
                  <a:lnTo>
                    <a:pt x="0" y="1624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4327986" y="4608078"/>
              <a:ext cx="1624829" cy="1624829"/>
            </a:xfrm>
            <a:custGeom>
              <a:avLst/>
              <a:gdLst/>
              <a:ahLst/>
              <a:cxnLst/>
              <a:rect r="r" b="b" t="t" l="l"/>
              <a:pathLst>
                <a:path h="1624829" w="1624829">
                  <a:moveTo>
                    <a:pt x="0" y="0"/>
                  </a:moveTo>
                  <a:lnTo>
                    <a:pt x="1624829" y="0"/>
                  </a:lnTo>
                  <a:lnTo>
                    <a:pt x="1624829" y="1624828"/>
                  </a:lnTo>
                  <a:lnTo>
                    <a:pt x="0" y="1624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97" id="97"/>
            <p:cNvSpPr/>
            <p:nvPr/>
          </p:nvSpPr>
          <p:spPr>
            <a:xfrm>
              <a:off x="3008285" y="5420492"/>
              <a:ext cx="1319701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98" id="98"/>
            <p:cNvGrpSpPr/>
            <p:nvPr/>
          </p:nvGrpSpPr>
          <p:grpSpPr>
            <a:xfrm rot="0">
              <a:off x="16235978" y="449870"/>
              <a:ext cx="5077091" cy="2805351"/>
              <a:chOff x="0" y="0"/>
              <a:chExt cx="2083606" cy="1151299"/>
            </a:xfrm>
          </p:grpSpPr>
          <p:sp>
            <p:nvSpPr>
              <p:cNvPr name="Freeform 99" id="99"/>
              <p:cNvSpPr/>
              <p:nvPr/>
            </p:nvSpPr>
            <p:spPr>
              <a:xfrm flipH="false" flipV="false" rot="0">
                <a:off x="0" y="0"/>
                <a:ext cx="2083606" cy="1151299"/>
              </a:xfrm>
              <a:custGeom>
                <a:avLst/>
                <a:gdLst/>
                <a:ahLst/>
                <a:cxnLst/>
                <a:rect r="r" b="b" t="t" l="l"/>
                <a:pathLst>
                  <a:path h="1151299" w="2083606">
                    <a:moveTo>
                      <a:pt x="34564" y="0"/>
                    </a:moveTo>
                    <a:lnTo>
                      <a:pt x="2049043" y="0"/>
                    </a:lnTo>
                    <a:cubicBezTo>
                      <a:pt x="2058209" y="0"/>
                      <a:pt x="2067001" y="3642"/>
                      <a:pt x="2073483" y="10124"/>
                    </a:cubicBezTo>
                    <a:cubicBezTo>
                      <a:pt x="2079965" y="16605"/>
                      <a:pt x="2083606" y="25397"/>
                      <a:pt x="2083606" y="34564"/>
                    </a:cubicBezTo>
                    <a:lnTo>
                      <a:pt x="2083606" y="1116735"/>
                    </a:lnTo>
                    <a:cubicBezTo>
                      <a:pt x="2083606" y="1125902"/>
                      <a:pt x="2079965" y="1134693"/>
                      <a:pt x="2073483" y="1141175"/>
                    </a:cubicBezTo>
                    <a:cubicBezTo>
                      <a:pt x="2067001" y="1147657"/>
                      <a:pt x="2058209" y="1151299"/>
                      <a:pt x="2049043" y="1151299"/>
                    </a:cubicBezTo>
                    <a:lnTo>
                      <a:pt x="34564" y="1151299"/>
                    </a:lnTo>
                    <a:cubicBezTo>
                      <a:pt x="25397" y="1151299"/>
                      <a:pt x="16605" y="1147657"/>
                      <a:pt x="10124" y="1141175"/>
                    </a:cubicBezTo>
                    <a:cubicBezTo>
                      <a:pt x="3642" y="1134693"/>
                      <a:pt x="0" y="1125902"/>
                      <a:pt x="0" y="1116735"/>
                    </a:cubicBezTo>
                    <a:lnTo>
                      <a:pt x="0" y="34564"/>
                    </a:lnTo>
                    <a:cubicBezTo>
                      <a:pt x="0" y="25397"/>
                      <a:pt x="3642" y="16605"/>
                      <a:pt x="10124" y="10124"/>
                    </a:cubicBezTo>
                    <a:cubicBezTo>
                      <a:pt x="16605" y="3642"/>
                      <a:pt x="25397" y="0"/>
                      <a:pt x="34564" y="0"/>
                    </a:cubicBezTo>
                    <a:close/>
                  </a:path>
                </a:pathLst>
              </a:custGeom>
              <a:ln w="9525" cap="sq">
                <a:solidFill>
                  <a:srgbClr val="000000"/>
                </a:solidFill>
                <a:prstDash val="dash"/>
                <a:miter/>
              </a:ln>
            </p:spPr>
          </p:sp>
          <p:sp>
            <p:nvSpPr>
              <p:cNvPr name="TextBox 100" id="100"/>
              <p:cNvSpPr txBox="true"/>
              <p:nvPr/>
            </p:nvSpPr>
            <p:spPr>
              <a:xfrm>
                <a:off x="0" y="-28575"/>
                <a:ext cx="2083606" cy="1179874"/>
              </a:xfrm>
              <a:prstGeom prst="rect">
                <a:avLst/>
              </a:prstGeom>
            </p:spPr>
            <p:txBody>
              <a:bodyPr anchor="ctr" rtlCol="false" tIns="46491" lIns="46491" bIns="46491" rIns="46491"/>
              <a:lstStyle/>
              <a:p>
                <a:pPr algn="ctr">
                  <a:lnSpc>
                    <a:spcPts val="1027"/>
                  </a:lnSpc>
                </a:pPr>
              </a:p>
            </p:txBody>
          </p:sp>
        </p:grpSp>
        <p:sp>
          <p:nvSpPr>
            <p:cNvPr name="Freeform 101" id="101"/>
            <p:cNvSpPr/>
            <p:nvPr/>
          </p:nvSpPr>
          <p:spPr>
            <a:xfrm flipH="false" flipV="false" rot="0">
              <a:off x="16537490" y="811858"/>
              <a:ext cx="1624829" cy="1624829"/>
            </a:xfrm>
            <a:custGeom>
              <a:avLst/>
              <a:gdLst/>
              <a:ahLst/>
              <a:cxnLst/>
              <a:rect r="r" b="b" t="t" l="l"/>
              <a:pathLst>
                <a:path h="1624829" w="1624829">
                  <a:moveTo>
                    <a:pt x="0" y="0"/>
                  </a:moveTo>
                  <a:lnTo>
                    <a:pt x="1624829" y="0"/>
                  </a:lnTo>
                  <a:lnTo>
                    <a:pt x="1624829" y="1624829"/>
                  </a:lnTo>
                  <a:lnTo>
                    <a:pt x="0" y="1624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19760039" y="811858"/>
              <a:ext cx="1190187" cy="1624829"/>
            </a:xfrm>
            <a:custGeom>
              <a:avLst/>
              <a:gdLst/>
              <a:ahLst/>
              <a:cxnLst/>
              <a:rect r="r" b="b" t="t" l="l"/>
              <a:pathLst>
                <a:path h="1624829" w="1190187">
                  <a:moveTo>
                    <a:pt x="0" y="0"/>
                  </a:moveTo>
                  <a:lnTo>
                    <a:pt x="1190187" y="0"/>
                  </a:lnTo>
                  <a:lnTo>
                    <a:pt x="1190187" y="1624829"/>
                  </a:lnTo>
                  <a:lnTo>
                    <a:pt x="0" y="1624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 rot="0">
              <a:off x="652544" y="3760969"/>
              <a:ext cx="5560709" cy="319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46"/>
                </a:lnSpc>
              </a:pPr>
              <a:r>
                <a:rPr lang="en-US" sz="1462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Environment Layer</a:t>
              </a:r>
            </a:p>
          </p:txBody>
        </p:sp>
        <p:sp>
          <p:nvSpPr>
            <p:cNvPr name="AutoShape 104" id="104"/>
            <p:cNvSpPr/>
            <p:nvPr/>
          </p:nvSpPr>
          <p:spPr>
            <a:xfrm>
              <a:off x="18162319" y="1624273"/>
              <a:ext cx="1597719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105" id="105"/>
            <p:cNvGrpSpPr/>
            <p:nvPr/>
          </p:nvGrpSpPr>
          <p:grpSpPr>
            <a:xfrm rot="0">
              <a:off x="8915439" y="4236257"/>
              <a:ext cx="10844600" cy="3410291"/>
              <a:chOff x="0" y="0"/>
              <a:chExt cx="4450556" cy="1399562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4450556" cy="1399562"/>
              </a:xfrm>
              <a:custGeom>
                <a:avLst/>
                <a:gdLst/>
                <a:ahLst/>
                <a:cxnLst/>
                <a:rect r="r" b="b" t="t" l="l"/>
                <a:pathLst>
                  <a:path h="1399562" w="4450556">
                    <a:moveTo>
                      <a:pt x="16182" y="0"/>
                    </a:moveTo>
                    <a:lnTo>
                      <a:pt x="4434374" y="0"/>
                    </a:lnTo>
                    <a:cubicBezTo>
                      <a:pt x="4443311" y="0"/>
                      <a:pt x="4450556" y="7245"/>
                      <a:pt x="4450556" y="16182"/>
                    </a:cubicBezTo>
                    <a:lnTo>
                      <a:pt x="4450556" y="1383380"/>
                    </a:lnTo>
                    <a:cubicBezTo>
                      <a:pt x="4450556" y="1387672"/>
                      <a:pt x="4448851" y="1391788"/>
                      <a:pt x="4445816" y="1394822"/>
                    </a:cubicBezTo>
                    <a:cubicBezTo>
                      <a:pt x="4442782" y="1397857"/>
                      <a:pt x="4438666" y="1399562"/>
                      <a:pt x="4434374" y="1399562"/>
                    </a:cubicBezTo>
                    <a:lnTo>
                      <a:pt x="16182" y="1399562"/>
                    </a:lnTo>
                    <a:cubicBezTo>
                      <a:pt x="11890" y="1399562"/>
                      <a:pt x="7774" y="1397857"/>
                      <a:pt x="4739" y="1394822"/>
                    </a:cubicBezTo>
                    <a:cubicBezTo>
                      <a:pt x="1705" y="1391788"/>
                      <a:pt x="0" y="1387672"/>
                      <a:pt x="0" y="1383380"/>
                    </a:cubicBezTo>
                    <a:lnTo>
                      <a:pt x="0" y="16182"/>
                    </a:lnTo>
                    <a:cubicBezTo>
                      <a:pt x="0" y="7245"/>
                      <a:pt x="7245" y="0"/>
                      <a:pt x="16182" y="0"/>
                    </a:cubicBezTo>
                    <a:close/>
                  </a:path>
                </a:pathLst>
              </a:custGeom>
              <a:ln w="9525" cap="sq">
                <a:solidFill>
                  <a:srgbClr val="000000"/>
                </a:solidFill>
                <a:prstDash val="dash"/>
                <a:miter/>
              </a:ln>
            </p:spPr>
          </p:sp>
          <p:sp>
            <p:nvSpPr>
              <p:cNvPr name="TextBox 107" id="107"/>
              <p:cNvSpPr txBox="true"/>
              <p:nvPr/>
            </p:nvSpPr>
            <p:spPr>
              <a:xfrm>
                <a:off x="0" y="-28575"/>
                <a:ext cx="4450556" cy="1428137"/>
              </a:xfrm>
              <a:prstGeom prst="rect">
                <a:avLst/>
              </a:prstGeom>
            </p:spPr>
            <p:txBody>
              <a:bodyPr anchor="ctr" rtlCol="false" tIns="46491" lIns="46491" bIns="46491" rIns="46491"/>
              <a:lstStyle/>
              <a:p>
                <a:pPr algn="ctr">
                  <a:lnSpc>
                    <a:spcPts val="1027"/>
                  </a:lnSpc>
                </a:pPr>
              </a:p>
            </p:txBody>
          </p:sp>
        </p:grpSp>
        <p:sp>
          <p:nvSpPr>
            <p:cNvPr name="Freeform 108" id="108"/>
            <p:cNvSpPr/>
            <p:nvPr/>
          </p:nvSpPr>
          <p:spPr>
            <a:xfrm flipH="false" flipV="false" rot="0">
              <a:off x="9418836" y="4608078"/>
              <a:ext cx="1624829" cy="1624829"/>
            </a:xfrm>
            <a:custGeom>
              <a:avLst/>
              <a:gdLst/>
              <a:ahLst/>
              <a:cxnLst/>
              <a:rect r="r" b="b" t="t" l="l"/>
              <a:pathLst>
                <a:path h="1624829" w="1624829">
                  <a:moveTo>
                    <a:pt x="0" y="0"/>
                  </a:moveTo>
                  <a:lnTo>
                    <a:pt x="1624828" y="0"/>
                  </a:lnTo>
                  <a:lnTo>
                    <a:pt x="1624828" y="1624828"/>
                  </a:lnTo>
                  <a:lnTo>
                    <a:pt x="0" y="1624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12358319" y="4608078"/>
              <a:ext cx="1584208" cy="1624829"/>
            </a:xfrm>
            <a:custGeom>
              <a:avLst/>
              <a:gdLst/>
              <a:ahLst/>
              <a:cxnLst/>
              <a:rect r="r" b="b" t="t" l="l"/>
              <a:pathLst>
                <a:path h="1624829" w="1584208">
                  <a:moveTo>
                    <a:pt x="0" y="0"/>
                  </a:moveTo>
                  <a:lnTo>
                    <a:pt x="1584208" y="0"/>
                  </a:lnTo>
                  <a:lnTo>
                    <a:pt x="1584208" y="1624828"/>
                  </a:lnTo>
                  <a:lnTo>
                    <a:pt x="0" y="1624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10" id="110"/>
            <p:cNvSpPr/>
            <p:nvPr/>
          </p:nvSpPr>
          <p:spPr>
            <a:xfrm>
              <a:off x="11043664" y="5410660"/>
              <a:ext cx="1319701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111" id="111"/>
            <p:cNvSpPr/>
            <p:nvPr/>
          </p:nvSpPr>
          <p:spPr>
            <a:xfrm flipH="false" flipV="false" rot="0">
              <a:off x="15394176" y="4598246"/>
              <a:ext cx="1249604" cy="1614997"/>
            </a:xfrm>
            <a:custGeom>
              <a:avLst/>
              <a:gdLst/>
              <a:ahLst/>
              <a:cxnLst/>
              <a:rect r="r" b="b" t="t" l="l"/>
              <a:pathLst>
                <a:path h="1614997" w="1249604">
                  <a:moveTo>
                    <a:pt x="0" y="0"/>
                  </a:moveTo>
                  <a:lnTo>
                    <a:pt x="1249604" y="0"/>
                  </a:lnTo>
                  <a:lnTo>
                    <a:pt x="1249604" y="1614997"/>
                  </a:lnTo>
                  <a:lnTo>
                    <a:pt x="0" y="1614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12" id="112"/>
            <p:cNvSpPr/>
            <p:nvPr/>
          </p:nvSpPr>
          <p:spPr>
            <a:xfrm flipV="true">
              <a:off x="13942527" y="5405744"/>
              <a:ext cx="1451649" cy="14748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113" id="113"/>
            <p:cNvSpPr/>
            <p:nvPr/>
          </p:nvSpPr>
          <p:spPr>
            <a:xfrm flipH="false" flipV="false" rot="0">
              <a:off x="17623524" y="4617910"/>
              <a:ext cx="1883378" cy="1614997"/>
            </a:xfrm>
            <a:custGeom>
              <a:avLst/>
              <a:gdLst/>
              <a:ahLst/>
              <a:cxnLst/>
              <a:rect r="r" b="b" t="t" l="l"/>
              <a:pathLst>
                <a:path h="1614997" w="1883378">
                  <a:moveTo>
                    <a:pt x="0" y="0"/>
                  </a:moveTo>
                  <a:lnTo>
                    <a:pt x="1883378" y="0"/>
                  </a:lnTo>
                  <a:lnTo>
                    <a:pt x="1883378" y="1614996"/>
                  </a:lnTo>
                  <a:lnTo>
                    <a:pt x="0" y="1614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 rot="0">
              <a:off x="3203683" y="2575838"/>
              <a:ext cx="1464377" cy="526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1"/>
                </a:lnSpc>
                <a:spcBef>
                  <a:spcPct val="0"/>
                </a:spcBef>
              </a:pPr>
              <a:r>
                <a:rPr lang="en-US" b="true" sz="1137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Slither Analyzer</a:t>
              </a:r>
            </a:p>
          </p:txBody>
        </p:sp>
        <p:sp>
          <p:nvSpPr>
            <p:cNvPr name="TextBox 115" id="115"/>
            <p:cNvSpPr txBox="true"/>
            <p:nvPr/>
          </p:nvSpPr>
          <p:spPr>
            <a:xfrm rot="0">
              <a:off x="6172161" y="2709936"/>
              <a:ext cx="4356798" cy="258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1"/>
                </a:lnSpc>
                <a:spcBef>
                  <a:spcPct val="0"/>
                </a:spcBef>
              </a:pPr>
              <a:r>
                <a:rPr lang="en-US" b="true" sz="1137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AST, tSDG Generator</a:t>
              </a:r>
            </a:p>
          </p:txBody>
        </p:sp>
        <p:sp>
          <p:nvSpPr>
            <p:cNvPr name="TextBox 116" id="116"/>
            <p:cNvSpPr txBox="true"/>
            <p:nvPr/>
          </p:nvSpPr>
          <p:spPr>
            <a:xfrm rot="0">
              <a:off x="11701007" y="2575838"/>
              <a:ext cx="1943898" cy="526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1"/>
                </a:lnSpc>
              </a:pPr>
              <a:r>
                <a:rPr lang="en-US" sz="1137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Candidate</a:t>
              </a:r>
            </a:p>
            <a:p>
              <a:pPr algn="ctr">
                <a:lnSpc>
                  <a:spcPts val="1591"/>
                </a:lnSpc>
                <a:spcBef>
                  <a:spcPct val="0"/>
                </a:spcBef>
              </a:pPr>
              <a:r>
                <a:rPr lang="en-US" b="true" sz="1137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Functions Extractor</a:t>
              </a:r>
            </a:p>
          </p:txBody>
        </p:sp>
        <p:sp>
          <p:nvSpPr>
            <p:cNvPr name="TextBox 117" id="117"/>
            <p:cNvSpPr txBox="true"/>
            <p:nvPr/>
          </p:nvSpPr>
          <p:spPr>
            <a:xfrm rot="0">
              <a:off x="0" y="2575838"/>
              <a:ext cx="1464377" cy="526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1"/>
                </a:lnSpc>
              </a:pPr>
              <a:r>
                <a:rPr lang="en-US" sz="1137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Smart Contract</a:t>
              </a:r>
            </a:p>
            <a:p>
              <a:pPr algn="ctr">
                <a:lnSpc>
                  <a:spcPts val="1591"/>
                </a:lnSpc>
                <a:spcBef>
                  <a:spcPct val="0"/>
                </a:spcBef>
              </a:pPr>
              <a:r>
                <a:rPr lang="en-US" b="true" sz="1137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Source Code</a:t>
              </a:r>
            </a:p>
          </p:txBody>
        </p:sp>
        <p:sp>
          <p:nvSpPr>
            <p:cNvPr name="TextBox 118" id="118"/>
            <p:cNvSpPr txBox="true"/>
            <p:nvPr/>
          </p:nvSpPr>
          <p:spPr>
            <a:xfrm rot="0">
              <a:off x="3059077" y="5160248"/>
              <a:ext cx="1178257" cy="4633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74"/>
                </a:lnSpc>
              </a:pPr>
              <a:r>
                <a:rPr lang="en-US" b="true" sz="775">
                  <a:solidFill>
                    <a:srgbClr val="54545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Fork </a:t>
              </a:r>
            </a:p>
            <a:p>
              <a:pPr algn="ctr">
                <a:lnSpc>
                  <a:spcPts val="1474"/>
                </a:lnSpc>
              </a:pPr>
              <a:r>
                <a:rPr lang="en-US" b="true" sz="775">
                  <a:solidFill>
                    <a:srgbClr val="54545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Mainnet State</a:t>
              </a:r>
            </a:p>
          </p:txBody>
        </p:sp>
        <p:sp>
          <p:nvSpPr>
            <p:cNvPr name="TextBox 119" id="119"/>
            <p:cNvSpPr txBox="true"/>
            <p:nvPr/>
          </p:nvSpPr>
          <p:spPr>
            <a:xfrm rot="0">
              <a:off x="16537490" y="2569162"/>
              <a:ext cx="1624829" cy="526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1"/>
                </a:lnSpc>
              </a:pPr>
              <a:r>
                <a:rPr lang="en-US" sz="1137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Forge/Echidna</a:t>
              </a:r>
            </a:p>
            <a:p>
              <a:pPr algn="ctr">
                <a:lnSpc>
                  <a:spcPts val="1591"/>
                </a:lnSpc>
                <a:spcBef>
                  <a:spcPct val="0"/>
                </a:spcBef>
              </a:pPr>
              <a:r>
                <a:rPr lang="en-US" b="true" sz="1137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Fuzzer</a:t>
              </a:r>
            </a:p>
          </p:txBody>
        </p:sp>
        <p:sp>
          <p:nvSpPr>
            <p:cNvPr name="TextBox 120" id="120"/>
            <p:cNvSpPr txBox="true"/>
            <p:nvPr/>
          </p:nvSpPr>
          <p:spPr>
            <a:xfrm rot="0">
              <a:off x="19574871" y="2703261"/>
              <a:ext cx="1560521" cy="258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1"/>
                </a:lnSpc>
                <a:spcBef>
                  <a:spcPct val="0"/>
                </a:spcBef>
              </a:pPr>
              <a:r>
                <a:rPr lang="en-US" b="true" sz="1137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Tx Broadcaster</a:t>
              </a:r>
            </a:p>
          </p:txBody>
        </p:sp>
        <p:sp>
          <p:nvSpPr>
            <p:cNvPr name="TextBox 121" id="121"/>
            <p:cNvSpPr txBox="true"/>
            <p:nvPr/>
          </p:nvSpPr>
          <p:spPr>
            <a:xfrm rot="0">
              <a:off x="18372051" y="1364029"/>
              <a:ext cx="1178257" cy="4633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74"/>
                </a:lnSpc>
              </a:pPr>
              <a:r>
                <a:rPr lang="en-US" sz="775" b="true">
                  <a:solidFill>
                    <a:srgbClr val="54545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Generate Random</a:t>
              </a:r>
            </a:p>
            <a:p>
              <a:pPr algn="ctr">
                <a:lnSpc>
                  <a:spcPts val="1474"/>
                </a:lnSpc>
              </a:pPr>
              <a:r>
                <a:rPr lang="en-US" sz="775" b="true">
                  <a:solidFill>
                    <a:srgbClr val="54545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&amp; Directed Inputs</a:t>
              </a:r>
            </a:p>
          </p:txBody>
        </p:sp>
        <p:sp>
          <p:nvSpPr>
            <p:cNvPr name="TextBox 122" id="122"/>
            <p:cNvSpPr txBox="true"/>
            <p:nvPr/>
          </p:nvSpPr>
          <p:spPr>
            <a:xfrm rot="0">
              <a:off x="11887475" y="6355549"/>
              <a:ext cx="2525896" cy="526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1"/>
                </a:lnSpc>
              </a:pPr>
              <a:r>
                <a:rPr lang="en-US" sz="1137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Balance Change Checker</a:t>
              </a:r>
            </a:p>
            <a:p>
              <a:pPr algn="ctr">
                <a:lnSpc>
                  <a:spcPts val="1591"/>
                </a:lnSpc>
                <a:spcBef>
                  <a:spcPct val="0"/>
                </a:spcBef>
              </a:pPr>
              <a:r>
                <a:rPr lang="en-US" b="true" sz="1137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&gt; 2 accounts</a:t>
              </a:r>
            </a:p>
          </p:txBody>
        </p:sp>
        <p:sp>
          <p:nvSpPr>
            <p:cNvPr name="TextBox 123" id="123"/>
            <p:cNvSpPr txBox="true"/>
            <p:nvPr/>
          </p:nvSpPr>
          <p:spPr>
            <a:xfrm rot="0">
              <a:off x="15258917" y="6355549"/>
              <a:ext cx="1520121" cy="526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1"/>
                </a:lnSpc>
              </a:pPr>
              <a:r>
                <a:rPr lang="en-US" sz="1137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Tag: True tMEV</a:t>
              </a:r>
            </a:p>
            <a:p>
              <a:pPr algn="ctr">
                <a:lnSpc>
                  <a:spcPts val="1591"/>
                </a:lnSpc>
                <a:spcBef>
                  <a:spcPct val="0"/>
                </a:spcBef>
              </a:pPr>
              <a:r>
                <a:rPr lang="en-US" b="true" sz="1137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Opportunity</a:t>
              </a:r>
            </a:p>
          </p:txBody>
        </p:sp>
        <p:sp>
          <p:nvSpPr>
            <p:cNvPr name="TextBox 124" id="124"/>
            <p:cNvSpPr txBox="true"/>
            <p:nvPr/>
          </p:nvSpPr>
          <p:spPr>
            <a:xfrm rot="0">
              <a:off x="14079223" y="5089024"/>
              <a:ext cx="1178257" cy="2815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1"/>
                </a:lnSpc>
              </a:pPr>
              <a:r>
                <a:rPr lang="en-US" sz="1032" b="true">
                  <a:solidFill>
                    <a:srgbClr val="54545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Yes</a:t>
              </a:r>
            </a:p>
          </p:txBody>
        </p:sp>
        <p:sp>
          <p:nvSpPr>
            <p:cNvPr name="Freeform 125" id="125"/>
            <p:cNvSpPr/>
            <p:nvPr/>
          </p:nvSpPr>
          <p:spPr>
            <a:xfrm>
              <a:off x="13150424" y="6613812"/>
              <a:ext cx="5414789" cy="582819"/>
            </a:xfrm>
            <a:custGeom>
              <a:avLst/>
              <a:gdLst/>
              <a:ahLst/>
              <a:cxnLst/>
              <a:rect r="r" b="b" t="t" l="l"/>
              <a:pathLst>
                <a:path h="582819" w="5414789">
                  <a:moveTo>
                    <a:pt x="0" y="268197"/>
                  </a:moveTo>
                  <a:lnTo>
                    <a:pt x="0" y="430419"/>
                  </a:lnTo>
                  <a:cubicBezTo>
                    <a:pt x="0" y="514588"/>
                    <a:pt x="68231" y="582819"/>
                    <a:pt x="152400" y="582819"/>
                  </a:cubicBezTo>
                  <a:lnTo>
                    <a:pt x="5262389" y="582819"/>
                  </a:lnTo>
                  <a:cubicBezTo>
                    <a:pt x="5302808" y="582819"/>
                    <a:pt x="5341571" y="566763"/>
                    <a:pt x="5370153" y="538182"/>
                  </a:cubicBezTo>
                  <a:cubicBezTo>
                    <a:pt x="5398732" y="509602"/>
                    <a:pt x="5414789" y="470839"/>
                    <a:pt x="5414789" y="430419"/>
                  </a:cubicBezTo>
                  <a:lnTo>
                    <a:pt x="5414789" y="0"/>
                  </a:lnTo>
                </a:path>
              </a:pathLst>
            </a:custGeom>
            <a:ln cap="flat" w="254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126" id="126"/>
            <p:cNvSpPr txBox="true"/>
            <p:nvPr/>
          </p:nvSpPr>
          <p:spPr>
            <a:xfrm rot="0">
              <a:off x="8915439" y="3751137"/>
              <a:ext cx="8100329" cy="319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46"/>
                </a:lnSpc>
              </a:pPr>
              <a:r>
                <a:rPr lang="en-US" sz="1462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Verification Layer</a:t>
              </a:r>
            </a:p>
          </p:txBody>
        </p:sp>
        <p:sp>
          <p:nvSpPr>
            <p:cNvPr name="TextBox 127" id="127"/>
            <p:cNvSpPr txBox="true"/>
            <p:nvPr/>
          </p:nvSpPr>
          <p:spPr>
            <a:xfrm rot="0">
              <a:off x="5279859" y="3610754"/>
              <a:ext cx="6080645" cy="281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4"/>
                </a:lnSpc>
              </a:pPr>
              <a:r>
                <a:rPr lang="en-US" sz="1033" b="true">
                  <a:solidFill>
                    <a:srgbClr val="54545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Send TX / Read State</a:t>
              </a:r>
            </a:p>
          </p:txBody>
        </p:sp>
        <p:sp>
          <p:nvSpPr>
            <p:cNvPr name="TextBox 128" id="128"/>
            <p:cNvSpPr txBox="true"/>
            <p:nvPr/>
          </p:nvSpPr>
          <p:spPr>
            <a:xfrm rot="0">
              <a:off x="6632084" y="5108688"/>
              <a:ext cx="1864524" cy="2815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1"/>
                </a:lnSpc>
              </a:pPr>
              <a:r>
                <a:rPr lang="en-US" sz="1032" b="true">
                  <a:solidFill>
                    <a:srgbClr val="54545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EVM State Updates</a:t>
              </a:r>
            </a:p>
          </p:txBody>
        </p:sp>
        <p:sp>
          <p:nvSpPr>
            <p:cNvPr name="Freeform 129" id="129"/>
            <p:cNvSpPr/>
            <p:nvPr/>
          </p:nvSpPr>
          <p:spPr>
            <a:xfrm>
              <a:off x="13533793" y="1630948"/>
              <a:ext cx="1351093" cy="0"/>
            </a:xfrm>
            <a:custGeom>
              <a:avLst/>
              <a:gdLst/>
              <a:ahLst/>
              <a:cxnLst/>
              <a:rect r="r" b="b" t="t" l="l"/>
              <a:pathLst>
                <a:path h="0" w="1351093">
                  <a:moveTo>
                    <a:pt x="1351092" y="0"/>
                  </a:moveTo>
                  <a:lnTo>
                    <a:pt x="0" y="0"/>
                  </a:lnTo>
                </a:path>
              </a:pathLst>
            </a:custGeom>
            <a:ln cap="flat" w="25400">
              <a:solidFill>
                <a:srgbClr val="000000"/>
              </a:solidFill>
              <a:prstDash val="solid"/>
              <a:headEnd type="arrow" len="sm" w="med"/>
              <a:tailEnd type="none" len="sm" w="sm"/>
            </a:ln>
          </p:spPr>
        </p:sp>
        <p:sp>
          <p:nvSpPr>
            <p:cNvPr name="Freeform 130" id="130"/>
            <p:cNvSpPr/>
            <p:nvPr/>
          </p:nvSpPr>
          <p:spPr>
            <a:xfrm>
              <a:off x="6213253" y="5430324"/>
              <a:ext cx="1351093" cy="0"/>
            </a:xfrm>
            <a:custGeom>
              <a:avLst/>
              <a:gdLst/>
              <a:ahLst/>
              <a:cxnLst/>
              <a:rect r="r" b="b" t="t" l="l"/>
              <a:pathLst>
                <a:path h="0" w="1351093">
                  <a:moveTo>
                    <a:pt x="1351093" y="0"/>
                  </a:moveTo>
                  <a:lnTo>
                    <a:pt x="0" y="0"/>
                  </a:lnTo>
                </a:path>
              </a:pathLst>
            </a:custGeom>
            <a:ln cap="flat" w="25400">
              <a:solidFill>
                <a:srgbClr val="000000"/>
              </a:solidFill>
              <a:prstDash val="solid"/>
              <a:headEnd type="arrow" len="sm" w="med"/>
              <a:tailEnd type="none" len="sm" w="sm"/>
            </a:ln>
          </p:spPr>
        </p:sp>
        <p:sp>
          <p:nvSpPr>
            <p:cNvPr name="Freeform 131" id="131"/>
            <p:cNvSpPr/>
            <p:nvPr/>
          </p:nvSpPr>
          <p:spPr>
            <a:xfrm>
              <a:off x="337922" y="1630948"/>
              <a:ext cx="21289768" cy="3774796"/>
            </a:xfrm>
            <a:custGeom>
              <a:avLst/>
              <a:gdLst/>
              <a:ahLst/>
              <a:cxnLst/>
              <a:rect r="r" b="b" t="t" l="l"/>
              <a:pathLst>
                <a:path h="3774796" w="21289768">
                  <a:moveTo>
                    <a:pt x="314622" y="3774796"/>
                  </a:moveTo>
                  <a:lnTo>
                    <a:pt x="152400" y="3774796"/>
                  </a:lnTo>
                  <a:cubicBezTo>
                    <a:pt x="111981" y="3774796"/>
                    <a:pt x="73218" y="3758740"/>
                    <a:pt x="44637" y="3730159"/>
                  </a:cubicBezTo>
                  <a:cubicBezTo>
                    <a:pt x="16057" y="3701578"/>
                    <a:pt x="0" y="3662815"/>
                    <a:pt x="0" y="3622396"/>
                  </a:cubicBezTo>
                  <a:lnTo>
                    <a:pt x="0" y="2087259"/>
                  </a:lnTo>
                  <a:cubicBezTo>
                    <a:pt x="0" y="2046840"/>
                    <a:pt x="16057" y="2008077"/>
                    <a:pt x="44637" y="1979496"/>
                  </a:cubicBezTo>
                  <a:cubicBezTo>
                    <a:pt x="73218" y="1950916"/>
                    <a:pt x="111981" y="1934859"/>
                    <a:pt x="152400" y="1934859"/>
                  </a:cubicBezTo>
                  <a:lnTo>
                    <a:pt x="21137369" y="1934859"/>
                  </a:lnTo>
                  <a:cubicBezTo>
                    <a:pt x="21221537" y="1934859"/>
                    <a:pt x="21289769" y="1866627"/>
                    <a:pt x="21289769" y="1782459"/>
                  </a:cubicBezTo>
                  <a:lnTo>
                    <a:pt x="21289769" y="152400"/>
                  </a:lnTo>
                  <a:cubicBezTo>
                    <a:pt x="21289769" y="68232"/>
                    <a:pt x="21221537" y="0"/>
                    <a:pt x="21137369" y="0"/>
                  </a:cubicBezTo>
                  <a:lnTo>
                    <a:pt x="20975148" y="0"/>
                  </a:lnTo>
                </a:path>
              </a:pathLst>
            </a:custGeom>
            <a:ln cap="flat" w="25400">
              <a:solidFill>
                <a:srgbClr val="023074"/>
              </a:solidFill>
              <a:prstDash val="solid"/>
              <a:headEnd type="arrow" len="sm" w="med"/>
              <a:tailEnd type="arrow" len="sm" w="med"/>
            </a:ln>
          </p:spPr>
        </p:sp>
        <p:sp>
          <p:nvSpPr>
            <p:cNvPr name="TextBox 132" id="132"/>
            <p:cNvSpPr txBox="true"/>
            <p:nvPr/>
          </p:nvSpPr>
          <p:spPr>
            <a:xfrm rot="5400000">
              <a:off x="19550440" y="4313255"/>
              <a:ext cx="1502623" cy="6093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1"/>
                </a:lnSpc>
              </a:pPr>
              <a:r>
                <a:rPr lang="en-US" sz="1032" b="true">
                  <a:solidFill>
                    <a:srgbClr val="54545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Feedback Loop /</a:t>
              </a:r>
            </a:p>
            <a:p>
              <a:pPr algn="ctr">
                <a:lnSpc>
                  <a:spcPts val="1961"/>
                </a:lnSpc>
              </a:pPr>
              <a:r>
                <a:rPr lang="en-US" sz="1032" b="true">
                  <a:solidFill>
                    <a:srgbClr val="54545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Mutate Seeds</a:t>
              </a:r>
            </a:p>
          </p:txBody>
        </p:sp>
        <p:sp>
          <p:nvSpPr>
            <p:cNvPr name="Freeform 133" id="133"/>
            <p:cNvSpPr/>
            <p:nvPr/>
          </p:nvSpPr>
          <p:spPr>
            <a:xfrm>
              <a:off x="17289656" y="3255221"/>
              <a:ext cx="2967439" cy="2170187"/>
            </a:xfrm>
            <a:custGeom>
              <a:avLst/>
              <a:gdLst/>
              <a:ahLst/>
              <a:cxnLst/>
              <a:rect r="r" b="b" t="t" l="l"/>
              <a:pathLst>
                <a:path h="2170187" w="2967439">
                  <a:moveTo>
                    <a:pt x="0" y="0"/>
                  </a:moveTo>
                  <a:lnTo>
                    <a:pt x="0" y="450724"/>
                  </a:lnTo>
                  <a:cubicBezTo>
                    <a:pt x="0" y="491143"/>
                    <a:pt x="16057" y="529907"/>
                    <a:pt x="44638" y="558488"/>
                  </a:cubicBezTo>
                  <a:cubicBezTo>
                    <a:pt x="73218" y="587068"/>
                    <a:pt x="111981" y="603124"/>
                    <a:pt x="152400" y="603124"/>
                  </a:cubicBezTo>
                  <a:lnTo>
                    <a:pt x="2815039" y="603124"/>
                  </a:lnTo>
                  <a:cubicBezTo>
                    <a:pt x="2855459" y="603124"/>
                    <a:pt x="2894222" y="619181"/>
                    <a:pt x="2922802" y="647761"/>
                  </a:cubicBezTo>
                  <a:cubicBezTo>
                    <a:pt x="2951383" y="676342"/>
                    <a:pt x="2967439" y="715106"/>
                    <a:pt x="2967439" y="755524"/>
                  </a:cubicBezTo>
                  <a:lnTo>
                    <a:pt x="2967439" y="2017787"/>
                  </a:lnTo>
                  <a:cubicBezTo>
                    <a:pt x="2967439" y="2058206"/>
                    <a:pt x="2951383" y="2096969"/>
                    <a:pt x="2922802" y="2125550"/>
                  </a:cubicBezTo>
                  <a:cubicBezTo>
                    <a:pt x="2894222" y="2154131"/>
                    <a:pt x="2855459" y="2170187"/>
                    <a:pt x="2815039" y="2170187"/>
                  </a:cubicBezTo>
                  <a:lnTo>
                    <a:pt x="2217246" y="2170187"/>
                  </a:lnTo>
                </a:path>
              </a:pathLst>
            </a:custGeom>
            <a:ln cap="flat" w="25400">
              <a:solidFill>
                <a:srgbClr val="000000"/>
              </a:solidFill>
              <a:prstDash val="solid"/>
              <a:headEnd type="arrow" len="sm" w="med"/>
              <a:tailEnd type="none" len="sm" w="sm"/>
            </a:ln>
          </p:spPr>
        </p:sp>
        <p:sp>
          <p:nvSpPr>
            <p:cNvPr name="TextBox 134" id="134"/>
            <p:cNvSpPr txBox="true"/>
            <p:nvPr/>
          </p:nvSpPr>
          <p:spPr>
            <a:xfrm rot="0">
              <a:off x="2749083" y="-28575"/>
              <a:ext cx="11128713" cy="319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46"/>
                </a:lnSpc>
              </a:pPr>
              <a:r>
                <a:rPr lang="en-US" sz="1462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Pre-processing Layer</a:t>
              </a:r>
            </a:p>
          </p:txBody>
        </p:sp>
        <p:sp>
          <p:nvSpPr>
            <p:cNvPr name="TextBox 135" id="135"/>
            <p:cNvSpPr txBox="true"/>
            <p:nvPr/>
          </p:nvSpPr>
          <p:spPr>
            <a:xfrm rot="0">
              <a:off x="1271565" y="6365381"/>
              <a:ext cx="1464377" cy="526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1"/>
                </a:lnSpc>
              </a:pPr>
              <a:r>
                <a:rPr lang="en-US" sz="1137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RPC Provider</a:t>
              </a:r>
            </a:p>
            <a:p>
              <a:pPr algn="ctr">
                <a:lnSpc>
                  <a:spcPts val="1591"/>
                </a:lnSpc>
                <a:spcBef>
                  <a:spcPct val="0"/>
                </a:spcBef>
              </a:pPr>
              <a:r>
                <a:rPr lang="en-US" b="true" sz="1137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Alchemy/Infura</a:t>
              </a:r>
            </a:p>
          </p:txBody>
        </p:sp>
        <p:sp>
          <p:nvSpPr>
            <p:cNvPr name="TextBox 136" id="136"/>
            <p:cNvSpPr txBox="true"/>
            <p:nvPr/>
          </p:nvSpPr>
          <p:spPr>
            <a:xfrm rot="0">
              <a:off x="4237333" y="6365381"/>
              <a:ext cx="1806134" cy="526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1"/>
                </a:lnSpc>
              </a:pPr>
              <a:r>
                <a:rPr lang="en-US" sz="1137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Anvil Local Node</a:t>
              </a:r>
            </a:p>
            <a:p>
              <a:pPr algn="ctr">
                <a:lnSpc>
                  <a:spcPts val="1591"/>
                </a:lnSpc>
                <a:spcBef>
                  <a:spcPct val="0"/>
                </a:spcBef>
              </a:pPr>
              <a:r>
                <a:rPr lang="en-US" b="true" sz="1137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EVM Environment</a:t>
              </a:r>
            </a:p>
          </p:txBody>
        </p:sp>
        <p:sp>
          <p:nvSpPr>
            <p:cNvPr name="TextBox 137" id="137"/>
            <p:cNvSpPr txBox="true"/>
            <p:nvPr/>
          </p:nvSpPr>
          <p:spPr>
            <a:xfrm rot="0">
              <a:off x="16235978" y="-28575"/>
              <a:ext cx="5077091" cy="319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46"/>
                </a:lnSpc>
              </a:pPr>
              <a:r>
                <a:rPr lang="en-US" sz="1462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Execution Layer</a:t>
              </a:r>
            </a:p>
          </p:txBody>
        </p:sp>
        <p:sp>
          <p:nvSpPr>
            <p:cNvPr name="TextBox 138" id="138"/>
            <p:cNvSpPr txBox="true"/>
            <p:nvPr/>
          </p:nvSpPr>
          <p:spPr>
            <a:xfrm rot="0">
              <a:off x="13995780" y="1294826"/>
              <a:ext cx="2122215" cy="281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4"/>
                </a:lnSpc>
              </a:pPr>
              <a:r>
                <a:rPr lang="en-US" sz="1033" b="true">
                  <a:solidFill>
                    <a:srgbClr val="54545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List of Target Functions</a:t>
              </a:r>
            </a:p>
          </p:txBody>
        </p:sp>
        <p:sp>
          <p:nvSpPr>
            <p:cNvPr name="TextBox 139" id="139"/>
            <p:cNvSpPr txBox="true"/>
            <p:nvPr/>
          </p:nvSpPr>
          <p:spPr>
            <a:xfrm rot="0">
              <a:off x="8968302" y="6355549"/>
              <a:ext cx="2525896" cy="526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1"/>
                </a:lnSpc>
              </a:pPr>
              <a:r>
                <a:rPr lang="en-US" sz="1137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State Diff Extractor</a:t>
              </a:r>
            </a:p>
            <a:p>
              <a:pPr algn="ctr">
                <a:lnSpc>
                  <a:spcPts val="1591"/>
                </a:lnSpc>
                <a:spcBef>
                  <a:spcPct val="0"/>
                </a:spcBef>
              </a:pPr>
              <a:r>
                <a:rPr lang="en-US" b="true" sz="1137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debug_traceTransaction</a:t>
              </a:r>
            </a:p>
          </p:txBody>
        </p:sp>
        <p:sp>
          <p:nvSpPr>
            <p:cNvPr name="TextBox 140" id="140"/>
            <p:cNvSpPr txBox="true"/>
            <p:nvPr/>
          </p:nvSpPr>
          <p:spPr>
            <a:xfrm rot="0">
              <a:off x="17805152" y="6355549"/>
              <a:ext cx="1520121" cy="258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1"/>
                </a:lnSpc>
                <a:spcBef>
                  <a:spcPct val="0"/>
                </a:spcBef>
              </a:pPr>
              <a:r>
                <a:rPr lang="en-US" b="true" sz="1137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Discard/Re-Fuzz</a:t>
              </a:r>
            </a:p>
          </p:txBody>
        </p:sp>
        <p:sp>
          <p:nvSpPr>
            <p:cNvPr name="TextBox 141" id="141"/>
            <p:cNvSpPr txBox="true"/>
            <p:nvPr/>
          </p:nvSpPr>
          <p:spPr>
            <a:xfrm rot="0">
              <a:off x="13150423" y="7192680"/>
              <a:ext cx="5414790" cy="2815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1"/>
                </a:lnSpc>
              </a:pPr>
              <a:r>
                <a:rPr lang="en-US" sz="1032" b="true">
                  <a:solidFill>
                    <a:srgbClr val="54545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No</a:t>
              </a:r>
            </a:p>
          </p:txBody>
        </p:sp>
      </p:grpSp>
      <p:sp>
        <p:nvSpPr>
          <p:cNvPr id="142" name="Rounded Rectangle 141"/>
          <p:cNvSpPr/>
          <p:nvPr/>
        </p:nvSpPr>
        <p:spPr>
          <a:xfrm>
            <a:off x="1143000" y="7479792"/>
            <a:ext cx="16002000" cy="1115568"/>
          </a:xfrm>
          <a:prstGeom prst="roundRect">
            <a:avLst/>
          </a:prstGeom>
          <a:solidFill>
            <a:srgbClr val="F6FBFF"/>
          </a:solidFill>
          <a:ln w="13970">
            <a:solidFill>
              <a:srgbClr val="BCD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417320" y="7589520"/>
            <a:ext cx="1920240" cy="310896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300" b="1">
                <a:solidFill>
                  <a:srgbClr val="003E7D"/>
                </a:solidFill>
                <a:latin typeface="Agrandir"/>
              </a:defRPr>
            </a:pPr>
            <a:r>
              <a:t>Key Features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246120" y="7955279"/>
            <a:ext cx="3154680" cy="3840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291839" y="8005571"/>
            <a:ext cx="306324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1100" b="1">
                <a:solidFill>
                  <a:srgbClr val="0053A6"/>
                </a:solidFill>
                <a:latin typeface="Agrandir"/>
              </a:defRPr>
            </a:pPr>
            <a:r>
              <a:t>SDG  Static SDG Pruning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647688" y="7955279"/>
            <a:ext cx="3154680" cy="3840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693407" y="8005571"/>
            <a:ext cx="306324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1100" b="1">
                <a:solidFill>
                  <a:srgbClr val="0053A6"/>
                </a:solidFill>
                <a:latin typeface="Agrandir"/>
              </a:defRPr>
            </a:pPr>
            <a:r>
              <a:t>FORK  Fork-based Fuzzing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0049256" y="7955279"/>
            <a:ext cx="3886200" cy="3840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094976" y="8005571"/>
            <a:ext cx="379476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1100" b="1">
                <a:solidFill>
                  <a:srgbClr val="0053A6"/>
                </a:solidFill>
                <a:latin typeface="Agrandir"/>
              </a:defRPr>
            </a:pPr>
            <a:r>
              <a:t>DIFF  State Difference Verification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4182344" y="7955279"/>
            <a:ext cx="3154680" cy="3840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4228064" y="8005571"/>
            <a:ext cx="306324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1100" b="1">
                <a:solidFill>
                  <a:srgbClr val="0053A6"/>
                </a:solidFill>
                <a:latin typeface="Agrandir"/>
              </a:defRPr>
            </a:pPr>
            <a:r>
              <a:t>$  Economic Validation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312098"/>
            <a:ext cx="18288000" cy="784344"/>
            <a:chOff x="0" y="0"/>
            <a:chExt cx="812800" cy="34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4860"/>
            </a:xfrm>
            <a:custGeom>
              <a:avLst/>
              <a:gdLst/>
              <a:ahLst/>
              <a:cxnLst/>
              <a:rect r="r" b="b" t="t" l="l"/>
              <a:pathLst>
                <a:path h="3486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4860"/>
                  </a:lnTo>
                  <a:lnTo>
                    <a:pt x="0" y="3486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92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490499" y="9574153"/>
            <a:ext cx="25778499" cy="712847"/>
            <a:chOff x="0" y="0"/>
            <a:chExt cx="6789423" cy="187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89423" cy="187740"/>
            </a:xfrm>
            <a:custGeom>
              <a:avLst/>
              <a:gdLst/>
              <a:ahLst/>
              <a:cxnLst/>
              <a:rect r="r" b="b" t="t" l="l"/>
              <a:pathLst>
                <a:path h="187740" w="6789423">
                  <a:moveTo>
                    <a:pt x="6789423" y="30032"/>
                  </a:moveTo>
                  <a:lnTo>
                    <a:pt x="6789423" y="157708"/>
                  </a:lnTo>
                  <a:cubicBezTo>
                    <a:pt x="6789423" y="165673"/>
                    <a:pt x="6786259" y="173311"/>
                    <a:pt x="6780626" y="178944"/>
                  </a:cubicBezTo>
                  <a:cubicBezTo>
                    <a:pt x="6774994" y="184576"/>
                    <a:pt x="6767355" y="187740"/>
                    <a:pt x="6759391" y="187740"/>
                  </a:cubicBezTo>
                  <a:lnTo>
                    <a:pt x="30032" y="187740"/>
                  </a:lnTo>
                  <a:cubicBezTo>
                    <a:pt x="22067" y="187740"/>
                    <a:pt x="14428" y="184576"/>
                    <a:pt x="8796" y="178944"/>
                  </a:cubicBezTo>
                  <a:cubicBezTo>
                    <a:pt x="3164" y="173311"/>
                    <a:pt x="0" y="165673"/>
                    <a:pt x="0" y="157708"/>
                  </a:cubicBezTo>
                  <a:lnTo>
                    <a:pt x="0" y="30032"/>
                  </a:lnTo>
                  <a:cubicBezTo>
                    <a:pt x="0" y="22067"/>
                    <a:pt x="3164" y="14428"/>
                    <a:pt x="8796" y="8796"/>
                  </a:cubicBezTo>
                  <a:cubicBezTo>
                    <a:pt x="14428" y="3164"/>
                    <a:pt x="22067" y="0"/>
                    <a:pt x="30032" y="0"/>
                  </a:cubicBezTo>
                  <a:lnTo>
                    <a:pt x="6759391" y="0"/>
                  </a:lnTo>
                  <a:cubicBezTo>
                    <a:pt x="6767355" y="0"/>
                    <a:pt x="6774994" y="3164"/>
                    <a:pt x="6780626" y="8796"/>
                  </a:cubicBezTo>
                  <a:cubicBezTo>
                    <a:pt x="6786259" y="14428"/>
                    <a:pt x="6789423" y="22067"/>
                    <a:pt x="6789423" y="300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789423" cy="24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86388" y="9574153"/>
            <a:ext cx="1934732" cy="1317605"/>
            <a:chOff x="0" y="0"/>
            <a:chExt cx="509559" cy="3470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59" cy="347024"/>
            </a:xfrm>
            <a:custGeom>
              <a:avLst/>
              <a:gdLst/>
              <a:ahLst/>
              <a:cxnLst/>
              <a:rect r="r" b="b" t="t" l="l"/>
              <a:pathLst>
                <a:path h="347024" w="509559">
                  <a:moveTo>
                    <a:pt x="173512" y="0"/>
                  </a:moveTo>
                  <a:lnTo>
                    <a:pt x="336047" y="0"/>
                  </a:lnTo>
                  <a:cubicBezTo>
                    <a:pt x="431875" y="0"/>
                    <a:pt x="509559" y="77684"/>
                    <a:pt x="509559" y="173512"/>
                  </a:cubicBezTo>
                  <a:lnTo>
                    <a:pt x="509559" y="173512"/>
                  </a:lnTo>
                  <a:cubicBezTo>
                    <a:pt x="509559" y="269340"/>
                    <a:pt x="431875" y="347024"/>
                    <a:pt x="336047" y="347024"/>
                  </a:cubicBezTo>
                  <a:lnTo>
                    <a:pt x="173512" y="347024"/>
                  </a:lnTo>
                  <a:cubicBezTo>
                    <a:pt x="77684" y="347024"/>
                    <a:pt x="0" y="269340"/>
                    <a:pt x="0" y="173512"/>
                  </a:cubicBezTo>
                  <a:lnTo>
                    <a:pt x="0" y="173512"/>
                  </a:lnTo>
                  <a:cubicBezTo>
                    <a:pt x="0" y="77684"/>
                    <a:pt x="77684" y="0"/>
                    <a:pt x="173512" y="0"/>
                  </a:cubicBezTo>
                  <a:close/>
                </a:path>
              </a:pathLst>
            </a:custGeom>
            <a:solidFill>
              <a:srgbClr val="D2E2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9559" cy="404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09576" y="399170"/>
            <a:ext cx="219151" cy="610200"/>
            <a:chOff x="0" y="0"/>
            <a:chExt cx="292202" cy="813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227" cy="813562"/>
            </a:xfrm>
            <a:custGeom>
              <a:avLst/>
              <a:gdLst/>
              <a:ahLst/>
              <a:cxnLst/>
              <a:rect r="r" b="b" t="t" l="l"/>
              <a:pathLst>
                <a:path h="813562" w="292227">
                  <a:moveTo>
                    <a:pt x="0" y="0"/>
                  </a:moveTo>
                  <a:lnTo>
                    <a:pt x="292227" y="0"/>
                  </a:lnTo>
                  <a:lnTo>
                    <a:pt x="292227" y="813562"/>
                  </a:lnTo>
                  <a:lnTo>
                    <a:pt x="0" y="8135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115793" y="9665672"/>
            <a:ext cx="12670595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Blockchainist Research Team - University of Information Technology, VNU-HCM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67708"/>
            <a:ext cx="16230600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Methodology: Static Analysis and Utility-Guided Fuzzing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671320"/>
            <a:ext cx="60683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2721363"/>
            <a:ext cx="762822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Static Candidate Generation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39457" y="2721363"/>
            <a:ext cx="7619843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Utility-Guided Fuzzing</a:t>
            </a:r>
          </a:p>
        </p:txBody>
      </p:sp>
      <p:sp>
        <p:nvSpPr>
          <p:cNvPr name="AutoShape 18" id="18"/>
          <p:cNvSpPr/>
          <p:nvPr/>
        </p:nvSpPr>
        <p:spPr>
          <a:xfrm flipV="true">
            <a:off x="9144000" y="2864238"/>
            <a:ext cx="0" cy="4942119"/>
          </a:xfrm>
          <a:prstGeom prst="line">
            <a:avLst/>
          </a:prstGeom>
          <a:ln cap="flat" w="28575">
            <a:solidFill>
              <a:srgbClr val="0D47A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9639457" y="3615357"/>
            <a:ext cx="7619843" cy="4191000"/>
            <a:chOff x="0" y="0"/>
            <a:chExt cx="10159791" cy="558800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142875"/>
              <a:ext cx="10159791" cy="5730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00"/>
                </a:lnSpc>
              </a:pPr>
              <a:r>
                <a:rPr lang="en-US" sz="3000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Mutation strategy:</a:t>
              </a:r>
            </a:p>
            <a:p>
              <a:pPr algn="just">
                <a:lnSpc>
                  <a:spcPts val="4200"/>
                </a:lnSpc>
              </a:pPr>
              <a:r>
                <a:rPr lang="en-US" sz="3000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- </a:t>
              </a:r>
              <a:r>
                <a:rPr lang="en-US" sz="3000" b="true">
                  <a:solidFill>
                    <a:srgbClr val="0D47A1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30%</a:t>
              </a:r>
              <a:r>
                <a:rPr lang="en-US" sz="3000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 boundary values</a:t>
              </a:r>
            </a:p>
            <a:p>
              <a:pPr algn="just">
                <a:lnSpc>
                  <a:spcPts val="4200"/>
                </a:lnSpc>
              </a:pPr>
              <a:r>
                <a:rPr lang="en-US" sz="3000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- </a:t>
              </a:r>
              <a:r>
                <a:rPr lang="en-US" sz="3000" b="true">
                  <a:solidFill>
                    <a:srgbClr val="0D47A1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40%</a:t>
              </a:r>
              <a:r>
                <a:rPr lang="en-US" sz="3000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 SDG-derived di</a:t>
              </a:r>
              <a:r>
                <a:rPr lang="en-US" sz="3000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ctionary values</a:t>
              </a:r>
            </a:p>
            <a:p>
              <a:pPr algn="just">
                <a:lnSpc>
                  <a:spcPts val="4200"/>
                </a:lnSpc>
              </a:pPr>
              <a:r>
                <a:rPr lang="en-US" sz="3000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- </a:t>
              </a:r>
              <a:r>
                <a:rPr lang="en-US" b="true" sz="3000">
                  <a:solidFill>
                    <a:srgbClr val="0D47A1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30%</a:t>
              </a:r>
              <a:r>
                <a:rPr lang="en-US" sz="3000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 state-aware scheduling</a:t>
              </a:r>
            </a:p>
            <a:p>
              <a:pPr algn="just">
                <a:lnSpc>
                  <a:spcPts val="4200"/>
                </a:lnSpc>
              </a:pPr>
              <a:r>
                <a:rPr lang="en-US" sz="3000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U</a:t>
              </a:r>
              <a:r>
                <a:rPr lang="en-US" sz="3000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til</a:t>
              </a:r>
              <a:r>
                <a:rPr lang="en-US" sz="3000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ity obj</a:t>
              </a:r>
              <a:r>
                <a:rPr lang="en-US" sz="3000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ect</a:t>
              </a:r>
              <a:r>
                <a:rPr lang="en-US" sz="3000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iv</a:t>
              </a:r>
              <a:r>
                <a:rPr lang="en-US" sz="3000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e: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 i="true">
                  <a:solidFill>
                    <a:srgbClr val="0D47A1"/>
                  </a:solidFill>
                  <a:latin typeface="Agrandir Italics"/>
                  <a:ea typeface="Agrandir Italics"/>
                  <a:cs typeface="Agrandir Italics"/>
                  <a:sym typeface="Agrandir Italics"/>
                </a:rPr>
                <a:t>U(u) = E[Φ(u)] − λc ​T(u)</a:t>
              </a:r>
            </a:p>
            <a:p>
              <a:pPr algn="just">
                <a:lnSpc>
                  <a:spcPts val="4200"/>
                </a:lnSpc>
              </a:pPr>
              <a:r>
                <a:rPr lang="en-US" sz="3000" i="true">
                  <a:solidFill>
                    <a:srgbClr val="0D47A1"/>
                  </a:solidFill>
                  <a:latin typeface="Agrandir Italics"/>
                  <a:ea typeface="Agrandir Italics"/>
                  <a:cs typeface="Agrandir Italics"/>
                  <a:sym typeface="Agrandir Italics"/>
                </a:rPr>
                <a:t>- Prioritize inputs with high expected profit and low latency.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547305" y="3703189"/>
              <a:ext cx="123230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i="true">
                  <a:solidFill>
                    <a:srgbClr val="0D47A1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3615357"/>
            <a:ext cx="7628227" cy="3657600"/>
            <a:chOff x="0" y="0"/>
            <a:chExt cx="10170969" cy="487680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142875"/>
              <a:ext cx="10170969" cy="5019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1">
                <a:lnSpc>
                  <a:spcPts val="42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- Build an inter-procedural SDG: </a:t>
              </a:r>
              <a:r>
                <a:rPr lang="en-US" b="true" sz="3000" i="true" strike="noStrike" u="none">
                  <a:solidFill>
                    <a:srgbClr val="0D47A1"/>
                  </a:solidFill>
                  <a:latin typeface="Agrandir Bold Italics"/>
                  <a:ea typeface="Agrandir Bold Italics"/>
                  <a:cs typeface="Agrandir Bold Italics"/>
                  <a:sym typeface="Agrandir Bold Italics"/>
                </a:rPr>
                <a:t>G</a:t>
              </a:r>
              <a:r>
                <a:rPr lang="en-US" b="true" sz="3000" i="true" strike="noStrike" u="none">
                  <a:solidFill>
                    <a:srgbClr val="0D47A1"/>
                  </a:solidFill>
                  <a:latin typeface="Agrandir Bold Italics"/>
                  <a:ea typeface="Agrandir Bold Italics"/>
                  <a:cs typeface="Agrandir Bold Italics"/>
                  <a:sym typeface="Agrandir Bold Italics"/>
                </a:rPr>
                <a:t>​   </a:t>
              </a:r>
              <a:r>
                <a:rPr lang="en-US" b="true" sz="3000" i="true" strike="noStrike" u="none">
                  <a:solidFill>
                    <a:srgbClr val="0D47A1"/>
                  </a:solidFill>
                  <a:latin typeface="Agrandir Bold Italics"/>
                  <a:ea typeface="Agrandir Bold Italics"/>
                  <a:cs typeface="Agrandir Bold Italics"/>
                  <a:sym typeface="Agrandir Bold Italics"/>
                </a:rPr>
                <a:t>= (V,E)</a:t>
              </a:r>
            </a:p>
            <a:p>
              <a:pPr algn="just" marL="0" indent="0" lvl="1">
                <a:lnSpc>
                  <a:spcPts val="42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- Backward slicing starts from writes to </a:t>
              </a:r>
              <a:r>
                <a:rPr lang="en-US" b="true" sz="3000" strike="noStrike" u="none">
                  <a:solidFill>
                    <a:srgbClr val="0D47A1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balances</a:t>
              </a:r>
              <a:r>
                <a:rPr lang="en-US" sz="3000" strike="noStrike" u="none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, </a:t>
              </a:r>
              <a:r>
                <a:rPr lang="en-US" b="true" sz="3000" strike="noStrike" u="none">
                  <a:solidFill>
                    <a:srgbClr val="0D47A1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totalSupply</a:t>
              </a:r>
              <a:r>
                <a:rPr lang="en-US" sz="3000" strike="noStrike" u="none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, or rebase factors.</a:t>
              </a:r>
            </a:p>
            <a:p>
              <a:pPr algn="just" marL="0" indent="0" lvl="1">
                <a:lnSpc>
                  <a:spcPts val="42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- Preserve access-control conditions, events emissions, and data, control, call, and return dependencies.</a:t>
              </a:r>
            </a:p>
            <a:p>
              <a:pPr algn="just" marL="0" indent="0" lvl="1">
                <a:lnSpc>
                  <a:spcPts val="42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- Maximum SDG depth: </a:t>
              </a:r>
              <a:r>
                <a:rPr lang="en-US" b="true" sz="3000" i="true" strike="noStrike" u="none">
                  <a:solidFill>
                    <a:srgbClr val="0D47A1"/>
                  </a:solidFill>
                  <a:latin typeface="Agrandir Bold Italics"/>
                  <a:ea typeface="Agrandir Bold Italics"/>
                  <a:cs typeface="Agrandir Bold Italics"/>
                  <a:sym typeface="Agrandir Bold Italics"/>
                </a:rPr>
                <a:t>D = 3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8199235" y="165360"/>
              <a:ext cx="199033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 i="true">
                  <a:solidFill>
                    <a:srgbClr val="0D47A1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c</a:t>
              </a:r>
            </a:p>
          </p:txBody>
        </p:sp>
      </p:grpSp>
      <p:sp>
        <p:nvSpPr>
          <p:cNvPr id="25" name="Oval 24"/>
          <p:cNvSpPr/>
          <p:nvPr/>
        </p:nvSpPr>
        <p:spPr>
          <a:xfrm>
            <a:off x="9738360" y="4041648"/>
            <a:ext cx="749808" cy="329184"/>
          </a:xfrm>
          <a:prstGeom prst="ellipse">
            <a:avLst/>
          </a:prstGeom>
          <a:noFill/>
          <a:ln w="19050">
            <a:solidFill>
              <a:srgbClr val="009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38360" y="4434840"/>
            <a:ext cx="749808" cy="329184"/>
          </a:xfrm>
          <a:prstGeom prst="ellipse">
            <a:avLst/>
          </a:prstGeom>
          <a:noFill/>
          <a:ln w="19050">
            <a:solidFill>
              <a:srgbClr val="009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38360" y="4828032"/>
            <a:ext cx="749808" cy="329184"/>
          </a:xfrm>
          <a:prstGeom prst="ellipse">
            <a:avLst/>
          </a:prstGeom>
          <a:noFill/>
          <a:ln w="19050">
            <a:solidFill>
              <a:srgbClr val="009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312098"/>
            <a:ext cx="18288000" cy="784344"/>
            <a:chOff x="0" y="0"/>
            <a:chExt cx="812800" cy="34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4860"/>
            </a:xfrm>
            <a:custGeom>
              <a:avLst/>
              <a:gdLst/>
              <a:ahLst/>
              <a:cxnLst/>
              <a:rect r="r" b="b" t="t" l="l"/>
              <a:pathLst>
                <a:path h="3486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4860"/>
                  </a:lnTo>
                  <a:lnTo>
                    <a:pt x="0" y="3486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92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490499" y="9574153"/>
            <a:ext cx="25778499" cy="712847"/>
            <a:chOff x="0" y="0"/>
            <a:chExt cx="6789423" cy="187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89423" cy="187740"/>
            </a:xfrm>
            <a:custGeom>
              <a:avLst/>
              <a:gdLst/>
              <a:ahLst/>
              <a:cxnLst/>
              <a:rect r="r" b="b" t="t" l="l"/>
              <a:pathLst>
                <a:path h="187740" w="6789423">
                  <a:moveTo>
                    <a:pt x="6789423" y="30032"/>
                  </a:moveTo>
                  <a:lnTo>
                    <a:pt x="6789423" y="157708"/>
                  </a:lnTo>
                  <a:cubicBezTo>
                    <a:pt x="6789423" y="165673"/>
                    <a:pt x="6786259" y="173311"/>
                    <a:pt x="6780626" y="178944"/>
                  </a:cubicBezTo>
                  <a:cubicBezTo>
                    <a:pt x="6774994" y="184576"/>
                    <a:pt x="6767355" y="187740"/>
                    <a:pt x="6759391" y="187740"/>
                  </a:cubicBezTo>
                  <a:lnTo>
                    <a:pt x="30032" y="187740"/>
                  </a:lnTo>
                  <a:cubicBezTo>
                    <a:pt x="22067" y="187740"/>
                    <a:pt x="14428" y="184576"/>
                    <a:pt x="8796" y="178944"/>
                  </a:cubicBezTo>
                  <a:cubicBezTo>
                    <a:pt x="3164" y="173311"/>
                    <a:pt x="0" y="165673"/>
                    <a:pt x="0" y="157708"/>
                  </a:cubicBezTo>
                  <a:lnTo>
                    <a:pt x="0" y="30032"/>
                  </a:lnTo>
                  <a:cubicBezTo>
                    <a:pt x="0" y="22067"/>
                    <a:pt x="3164" y="14428"/>
                    <a:pt x="8796" y="8796"/>
                  </a:cubicBezTo>
                  <a:cubicBezTo>
                    <a:pt x="14428" y="3164"/>
                    <a:pt x="22067" y="0"/>
                    <a:pt x="30032" y="0"/>
                  </a:cubicBezTo>
                  <a:lnTo>
                    <a:pt x="6759391" y="0"/>
                  </a:lnTo>
                  <a:cubicBezTo>
                    <a:pt x="6767355" y="0"/>
                    <a:pt x="6774994" y="3164"/>
                    <a:pt x="6780626" y="8796"/>
                  </a:cubicBezTo>
                  <a:cubicBezTo>
                    <a:pt x="6786259" y="14428"/>
                    <a:pt x="6789423" y="22067"/>
                    <a:pt x="6789423" y="300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789423" cy="24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86388" y="9574153"/>
            <a:ext cx="1934732" cy="1317605"/>
            <a:chOff x="0" y="0"/>
            <a:chExt cx="509559" cy="3470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59" cy="347024"/>
            </a:xfrm>
            <a:custGeom>
              <a:avLst/>
              <a:gdLst/>
              <a:ahLst/>
              <a:cxnLst/>
              <a:rect r="r" b="b" t="t" l="l"/>
              <a:pathLst>
                <a:path h="347024" w="509559">
                  <a:moveTo>
                    <a:pt x="173512" y="0"/>
                  </a:moveTo>
                  <a:lnTo>
                    <a:pt x="336047" y="0"/>
                  </a:lnTo>
                  <a:cubicBezTo>
                    <a:pt x="431875" y="0"/>
                    <a:pt x="509559" y="77684"/>
                    <a:pt x="509559" y="173512"/>
                  </a:cubicBezTo>
                  <a:lnTo>
                    <a:pt x="509559" y="173512"/>
                  </a:lnTo>
                  <a:cubicBezTo>
                    <a:pt x="509559" y="269340"/>
                    <a:pt x="431875" y="347024"/>
                    <a:pt x="336047" y="347024"/>
                  </a:cubicBezTo>
                  <a:lnTo>
                    <a:pt x="173512" y="347024"/>
                  </a:lnTo>
                  <a:cubicBezTo>
                    <a:pt x="77684" y="347024"/>
                    <a:pt x="0" y="269340"/>
                    <a:pt x="0" y="173512"/>
                  </a:cubicBezTo>
                  <a:lnTo>
                    <a:pt x="0" y="173512"/>
                  </a:lnTo>
                  <a:cubicBezTo>
                    <a:pt x="0" y="77684"/>
                    <a:pt x="77684" y="0"/>
                    <a:pt x="173512" y="0"/>
                  </a:cubicBezTo>
                  <a:close/>
                </a:path>
              </a:pathLst>
            </a:custGeom>
            <a:solidFill>
              <a:srgbClr val="D2E2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9559" cy="404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09576" y="399170"/>
            <a:ext cx="219151" cy="610200"/>
            <a:chOff x="0" y="0"/>
            <a:chExt cx="292202" cy="813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227" cy="813562"/>
            </a:xfrm>
            <a:custGeom>
              <a:avLst/>
              <a:gdLst/>
              <a:ahLst/>
              <a:cxnLst/>
              <a:rect r="r" b="b" t="t" l="l"/>
              <a:pathLst>
                <a:path h="813562" w="292227">
                  <a:moveTo>
                    <a:pt x="0" y="0"/>
                  </a:moveTo>
                  <a:lnTo>
                    <a:pt x="292227" y="0"/>
                  </a:lnTo>
                  <a:lnTo>
                    <a:pt x="292227" y="813562"/>
                  </a:lnTo>
                  <a:lnTo>
                    <a:pt x="0" y="8135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3782209" y="4005621"/>
            <a:ext cx="2566518" cy="425662"/>
          </a:xfrm>
          <a:custGeom>
            <a:avLst/>
            <a:gdLst/>
            <a:ahLst/>
            <a:cxnLst/>
            <a:rect r="r" b="b" t="t" l="l"/>
            <a:pathLst>
              <a:path h="425662" w="2566518">
                <a:moveTo>
                  <a:pt x="0" y="0"/>
                </a:moveTo>
                <a:lnTo>
                  <a:pt x="2566518" y="0"/>
                </a:lnTo>
                <a:lnTo>
                  <a:pt x="2566518" y="425662"/>
                </a:lnTo>
                <a:lnTo>
                  <a:pt x="0" y="425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056" t="-67719" r="-16553" b="-7169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17320" y="1507108"/>
            <a:ext cx="162306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Type-1: Non-Standard Total Supply Control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80207" y="2231008"/>
            <a:ext cx="14879093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f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u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nct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i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o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n i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s 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cla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s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si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f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i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ed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as 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Type-1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w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h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e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n: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- 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The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total supply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a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nge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s.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- 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Th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e f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un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ct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i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o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n i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s s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u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ccess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fully 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c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al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l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ed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by an u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n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pr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i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v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i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l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e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g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e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d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us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e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r.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- 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N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o 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m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atc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hi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n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g </a:t>
            </a:r>
            <a:r>
              <a:rPr lang="en-US" b="true" sz="3000" strike="noStrike" u="none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T</a:t>
            </a:r>
            <a:r>
              <a:rPr lang="en-US" b="true" sz="3000" strike="noStrike" u="none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ran</a:t>
            </a:r>
            <a:r>
              <a:rPr lang="en-US" b="true" sz="3000" strike="noStrike" u="none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sf</a:t>
            </a:r>
            <a:r>
              <a:rPr lang="en-US" b="true" sz="3000" strike="noStrike" u="none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er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e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v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en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t i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n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volv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i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ng </a:t>
            </a:r>
            <a:r>
              <a:rPr lang="en-US" b="true" sz="3000" strike="noStrike" u="none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addr</a:t>
            </a:r>
            <a:r>
              <a:rPr lang="en-US" b="true" sz="3000" strike="noStrike" u="none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es</a:t>
            </a:r>
            <a:r>
              <a:rPr lang="en-US" b="true" sz="3000" strike="noStrike" u="none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s(0)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i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s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e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mit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t</a:t>
            </a:r>
            <a:r>
              <a:rPr lang="en-US" sz="3000" strike="noStrike" u="none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ed.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7320" y="4920128"/>
            <a:ext cx="162306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Type-2: Non-Announced Synchronized Balance Update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80207" y="5644028"/>
            <a:ext cx="14879093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A function is classified as Type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-2 when: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- 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At least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two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non-zero a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ccount balances change proportionall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y.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- No mat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ing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ac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c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o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u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nt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-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level </a:t>
            </a:r>
            <a:r>
              <a:rPr lang="en-US" b="true" sz="3000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T</a:t>
            </a:r>
            <a:r>
              <a:rPr lang="en-US" b="true" sz="3000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r</a:t>
            </a:r>
            <a:r>
              <a:rPr lang="en-US" b="true" sz="3000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ansfe</a:t>
            </a:r>
            <a:r>
              <a:rPr lang="en-US" b="true" sz="3000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r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ev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ents 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are em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itted.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- 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No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p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ubl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i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c rebase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m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a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rker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is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upd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ate</a:t>
            </a:r>
            <a:r>
              <a:rPr lang="en-US" sz="3000">
                <a:solidFill>
                  <a:srgbClr val="0D47A1"/>
                </a:solidFill>
                <a:latin typeface="Agrandir"/>
                <a:ea typeface="Agrandir"/>
                <a:cs typeface="Agrandir"/>
                <a:sym typeface="Agrandir"/>
              </a:rPr>
              <a:t>d: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989320" y="8183879"/>
            <a:ext cx="6172200" cy="640080"/>
            <a:chOff x="0" y="0"/>
            <a:chExt cx="9932267" cy="13090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68517" cy="1309030"/>
            </a:xfrm>
            <a:custGeom>
              <a:avLst/>
              <a:gdLst/>
              <a:ahLst/>
              <a:cxnLst/>
              <a:rect r="r" b="b" t="t" l="l"/>
              <a:pathLst>
                <a:path h="1309030" w="6068517">
                  <a:moveTo>
                    <a:pt x="0" y="0"/>
                  </a:moveTo>
                  <a:lnTo>
                    <a:pt x="6068517" y="0"/>
                  </a:lnTo>
                  <a:lnTo>
                    <a:pt x="6068517" y="1309030"/>
                  </a:lnTo>
                  <a:lnTo>
                    <a:pt x="0" y="1309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538" t="-30808" r="-6113" b="-30916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7849224" y="292100"/>
              <a:ext cx="2083043" cy="544804"/>
            </a:xfrm>
            <a:custGeom>
              <a:avLst/>
              <a:gdLst/>
              <a:ahLst/>
              <a:cxnLst/>
              <a:rect r="r" b="b" t="t" l="l"/>
              <a:pathLst>
                <a:path h="544804" w="2083043">
                  <a:moveTo>
                    <a:pt x="0" y="0"/>
                  </a:moveTo>
                  <a:lnTo>
                    <a:pt x="2083043" y="0"/>
                  </a:lnTo>
                  <a:lnTo>
                    <a:pt x="2083043" y="544804"/>
                  </a:lnTo>
                  <a:lnTo>
                    <a:pt x="0" y="544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4097" t="-103991" r="-35555" b="-91904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 rot="0">
              <a:off x="6206756" y="206840"/>
              <a:ext cx="1502767" cy="752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0D47A1"/>
                  </a:solidFill>
                  <a:latin typeface="Agrandir"/>
                  <a:ea typeface="Agrandir"/>
                  <a:cs typeface="Agrandir"/>
                  <a:sym typeface="Agrandir"/>
                </a:rPr>
                <a:t>where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115793" y="9665672"/>
            <a:ext cx="12670595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Blockchainist Research Team - University of Information Technology, VNU-HCM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267708"/>
            <a:ext cx="16230600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Methodology: Detection Predicates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259300" y="9671320"/>
            <a:ext cx="60683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08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1490472"/>
            <a:ext cx="384048" cy="384048"/>
          </a:xfrm>
          <a:prstGeom prst="ellipse">
            <a:avLst/>
          </a:prstGeom>
          <a:solidFill>
            <a:srgbClr val="CD4646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1540763"/>
            <a:ext cx="384048" cy="31089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grandir"/>
              </a:defRPr>
            </a:pPr>
            <a:r>
              <a:t>T1</a:t>
            </a:r>
          </a:p>
        </p:txBody>
      </p:sp>
      <p:sp>
        <p:nvSpPr>
          <p:cNvPr id="27" name="Oval 26"/>
          <p:cNvSpPr/>
          <p:nvPr/>
        </p:nvSpPr>
        <p:spPr>
          <a:xfrm>
            <a:off x="749808" y="4919472"/>
            <a:ext cx="384048" cy="384048"/>
          </a:xfrm>
          <a:prstGeom prst="ellipse">
            <a:avLst/>
          </a:prstGeom>
          <a:solidFill>
            <a:srgbClr val="0053A6"/>
          </a:solidFill>
          <a:ln>
            <a:solidFill>
              <a:srgbClr val="00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969764"/>
            <a:ext cx="384048" cy="31089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grandir"/>
              </a:defRPr>
            </a:pPr>
            <a:r>
              <a:t>T2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312098"/>
            <a:ext cx="18288000" cy="784344"/>
            <a:chOff x="0" y="0"/>
            <a:chExt cx="812800" cy="34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4860"/>
            </a:xfrm>
            <a:custGeom>
              <a:avLst/>
              <a:gdLst/>
              <a:ahLst/>
              <a:cxnLst/>
              <a:rect r="r" b="b" t="t" l="l"/>
              <a:pathLst>
                <a:path h="3486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4860"/>
                  </a:lnTo>
                  <a:lnTo>
                    <a:pt x="0" y="3486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92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490499" y="9574153"/>
            <a:ext cx="25778499" cy="712847"/>
            <a:chOff x="0" y="0"/>
            <a:chExt cx="6789423" cy="187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89423" cy="187740"/>
            </a:xfrm>
            <a:custGeom>
              <a:avLst/>
              <a:gdLst/>
              <a:ahLst/>
              <a:cxnLst/>
              <a:rect r="r" b="b" t="t" l="l"/>
              <a:pathLst>
                <a:path h="187740" w="6789423">
                  <a:moveTo>
                    <a:pt x="6789423" y="30032"/>
                  </a:moveTo>
                  <a:lnTo>
                    <a:pt x="6789423" y="157708"/>
                  </a:lnTo>
                  <a:cubicBezTo>
                    <a:pt x="6789423" y="165673"/>
                    <a:pt x="6786259" y="173311"/>
                    <a:pt x="6780626" y="178944"/>
                  </a:cubicBezTo>
                  <a:cubicBezTo>
                    <a:pt x="6774994" y="184576"/>
                    <a:pt x="6767355" y="187740"/>
                    <a:pt x="6759391" y="187740"/>
                  </a:cubicBezTo>
                  <a:lnTo>
                    <a:pt x="30032" y="187740"/>
                  </a:lnTo>
                  <a:cubicBezTo>
                    <a:pt x="22067" y="187740"/>
                    <a:pt x="14428" y="184576"/>
                    <a:pt x="8796" y="178944"/>
                  </a:cubicBezTo>
                  <a:cubicBezTo>
                    <a:pt x="3164" y="173311"/>
                    <a:pt x="0" y="165673"/>
                    <a:pt x="0" y="157708"/>
                  </a:cubicBezTo>
                  <a:lnTo>
                    <a:pt x="0" y="30032"/>
                  </a:lnTo>
                  <a:cubicBezTo>
                    <a:pt x="0" y="22067"/>
                    <a:pt x="3164" y="14428"/>
                    <a:pt x="8796" y="8796"/>
                  </a:cubicBezTo>
                  <a:cubicBezTo>
                    <a:pt x="14428" y="3164"/>
                    <a:pt x="22067" y="0"/>
                    <a:pt x="30032" y="0"/>
                  </a:cubicBezTo>
                  <a:lnTo>
                    <a:pt x="6759391" y="0"/>
                  </a:lnTo>
                  <a:cubicBezTo>
                    <a:pt x="6767355" y="0"/>
                    <a:pt x="6774994" y="3164"/>
                    <a:pt x="6780626" y="8796"/>
                  </a:cubicBezTo>
                  <a:cubicBezTo>
                    <a:pt x="6786259" y="14428"/>
                    <a:pt x="6789423" y="22067"/>
                    <a:pt x="6789423" y="300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789423" cy="24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86388" y="9574153"/>
            <a:ext cx="1934732" cy="1317605"/>
            <a:chOff x="0" y="0"/>
            <a:chExt cx="509559" cy="3470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59" cy="347024"/>
            </a:xfrm>
            <a:custGeom>
              <a:avLst/>
              <a:gdLst/>
              <a:ahLst/>
              <a:cxnLst/>
              <a:rect r="r" b="b" t="t" l="l"/>
              <a:pathLst>
                <a:path h="347024" w="509559">
                  <a:moveTo>
                    <a:pt x="173512" y="0"/>
                  </a:moveTo>
                  <a:lnTo>
                    <a:pt x="336047" y="0"/>
                  </a:lnTo>
                  <a:cubicBezTo>
                    <a:pt x="431875" y="0"/>
                    <a:pt x="509559" y="77684"/>
                    <a:pt x="509559" y="173512"/>
                  </a:cubicBezTo>
                  <a:lnTo>
                    <a:pt x="509559" y="173512"/>
                  </a:lnTo>
                  <a:cubicBezTo>
                    <a:pt x="509559" y="269340"/>
                    <a:pt x="431875" y="347024"/>
                    <a:pt x="336047" y="347024"/>
                  </a:cubicBezTo>
                  <a:lnTo>
                    <a:pt x="173512" y="347024"/>
                  </a:lnTo>
                  <a:cubicBezTo>
                    <a:pt x="77684" y="347024"/>
                    <a:pt x="0" y="269340"/>
                    <a:pt x="0" y="173512"/>
                  </a:cubicBezTo>
                  <a:lnTo>
                    <a:pt x="0" y="173512"/>
                  </a:lnTo>
                  <a:cubicBezTo>
                    <a:pt x="0" y="77684"/>
                    <a:pt x="77684" y="0"/>
                    <a:pt x="173512" y="0"/>
                  </a:cubicBezTo>
                  <a:close/>
                </a:path>
              </a:pathLst>
            </a:custGeom>
            <a:solidFill>
              <a:srgbClr val="D2E2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9559" cy="404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09576" y="399170"/>
            <a:ext cx="219151" cy="610200"/>
            <a:chOff x="0" y="0"/>
            <a:chExt cx="292202" cy="813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227" cy="813562"/>
            </a:xfrm>
            <a:custGeom>
              <a:avLst/>
              <a:gdLst/>
              <a:ahLst/>
              <a:cxnLst/>
              <a:rect r="r" b="b" t="t" l="l"/>
              <a:pathLst>
                <a:path h="813562" w="292227">
                  <a:moveTo>
                    <a:pt x="0" y="0"/>
                  </a:moveTo>
                  <a:lnTo>
                    <a:pt x="292227" y="0"/>
                  </a:lnTo>
                  <a:lnTo>
                    <a:pt x="292227" y="813562"/>
                  </a:lnTo>
                  <a:lnTo>
                    <a:pt x="0" y="8135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115793" y="9665672"/>
            <a:ext cx="12670595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Blockchainist Research Team - University of Information Technology, VNU-HCM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67708"/>
            <a:ext cx="16230600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Experimental Results: Research Question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671320"/>
            <a:ext cx="60683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02</a:t>
            </a:r>
          </a:p>
        </p:txBody>
      </p:sp>
      <p:graphicFrame>
        <p:nvGraphicFramePr>
          <p:cNvPr name="Object 16" id="16"/>
          <p:cNvGraphicFramePr/>
          <p:nvPr/>
        </p:nvGraphicFramePr>
        <p:xfrm>
          <a:off x="1028700" y="2545639"/>
          <a:ext cx="7586157" cy="4274588"/>
        </p:xfrm>
        <a:graphic>
          <a:graphicData uri="http://schemas.openxmlformats.org/presentationml/2006/ole">
            <p:oleObj imgW="9105900" imgH="5791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312098"/>
            <a:ext cx="18288000" cy="784344"/>
            <a:chOff x="0" y="0"/>
            <a:chExt cx="812800" cy="34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4860"/>
            </a:xfrm>
            <a:custGeom>
              <a:avLst/>
              <a:gdLst/>
              <a:ahLst/>
              <a:cxnLst/>
              <a:rect r="r" b="b" t="t" l="l"/>
              <a:pathLst>
                <a:path h="3486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4860"/>
                  </a:lnTo>
                  <a:lnTo>
                    <a:pt x="0" y="3486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92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490499" y="9574153"/>
            <a:ext cx="25778499" cy="712847"/>
            <a:chOff x="0" y="0"/>
            <a:chExt cx="6789423" cy="187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89423" cy="187740"/>
            </a:xfrm>
            <a:custGeom>
              <a:avLst/>
              <a:gdLst/>
              <a:ahLst/>
              <a:cxnLst/>
              <a:rect r="r" b="b" t="t" l="l"/>
              <a:pathLst>
                <a:path h="187740" w="6789423">
                  <a:moveTo>
                    <a:pt x="6789423" y="30032"/>
                  </a:moveTo>
                  <a:lnTo>
                    <a:pt x="6789423" y="157708"/>
                  </a:lnTo>
                  <a:cubicBezTo>
                    <a:pt x="6789423" y="165673"/>
                    <a:pt x="6786259" y="173311"/>
                    <a:pt x="6780626" y="178944"/>
                  </a:cubicBezTo>
                  <a:cubicBezTo>
                    <a:pt x="6774994" y="184576"/>
                    <a:pt x="6767355" y="187740"/>
                    <a:pt x="6759391" y="187740"/>
                  </a:cubicBezTo>
                  <a:lnTo>
                    <a:pt x="30032" y="187740"/>
                  </a:lnTo>
                  <a:cubicBezTo>
                    <a:pt x="22067" y="187740"/>
                    <a:pt x="14428" y="184576"/>
                    <a:pt x="8796" y="178944"/>
                  </a:cubicBezTo>
                  <a:cubicBezTo>
                    <a:pt x="3164" y="173311"/>
                    <a:pt x="0" y="165673"/>
                    <a:pt x="0" y="157708"/>
                  </a:cubicBezTo>
                  <a:lnTo>
                    <a:pt x="0" y="30032"/>
                  </a:lnTo>
                  <a:cubicBezTo>
                    <a:pt x="0" y="22067"/>
                    <a:pt x="3164" y="14428"/>
                    <a:pt x="8796" y="8796"/>
                  </a:cubicBezTo>
                  <a:cubicBezTo>
                    <a:pt x="14428" y="3164"/>
                    <a:pt x="22067" y="0"/>
                    <a:pt x="30032" y="0"/>
                  </a:cubicBezTo>
                  <a:lnTo>
                    <a:pt x="6759391" y="0"/>
                  </a:lnTo>
                  <a:cubicBezTo>
                    <a:pt x="6767355" y="0"/>
                    <a:pt x="6774994" y="3164"/>
                    <a:pt x="6780626" y="8796"/>
                  </a:cubicBezTo>
                  <a:cubicBezTo>
                    <a:pt x="6786259" y="14428"/>
                    <a:pt x="6789423" y="22067"/>
                    <a:pt x="6789423" y="300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789423" cy="24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86388" y="9574153"/>
            <a:ext cx="1934732" cy="1317605"/>
            <a:chOff x="0" y="0"/>
            <a:chExt cx="509559" cy="3470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59" cy="347024"/>
            </a:xfrm>
            <a:custGeom>
              <a:avLst/>
              <a:gdLst/>
              <a:ahLst/>
              <a:cxnLst/>
              <a:rect r="r" b="b" t="t" l="l"/>
              <a:pathLst>
                <a:path h="347024" w="509559">
                  <a:moveTo>
                    <a:pt x="173512" y="0"/>
                  </a:moveTo>
                  <a:lnTo>
                    <a:pt x="336047" y="0"/>
                  </a:lnTo>
                  <a:cubicBezTo>
                    <a:pt x="431875" y="0"/>
                    <a:pt x="509559" y="77684"/>
                    <a:pt x="509559" y="173512"/>
                  </a:cubicBezTo>
                  <a:lnTo>
                    <a:pt x="509559" y="173512"/>
                  </a:lnTo>
                  <a:cubicBezTo>
                    <a:pt x="509559" y="269340"/>
                    <a:pt x="431875" y="347024"/>
                    <a:pt x="336047" y="347024"/>
                  </a:cubicBezTo>
                  <a:lnTo>
                    <a:pt x="173512" y="347024"/>
                  </a:lnTo>
                  <a:cubicBezTo>
                    <a:pt x="77684" y="347024"/>
                    <a:pt x="0" y="269340"/>
                    <a:pt x="0" y="173512"/>
                  </a:cubicBezTo>
                  <a:lnTo>
                    <a:pt x="0" y="173512"/>
                  </a:lnTo>
                  <a:cubicBezTo>
                    <a:pt x="0" y="77684"/>
                    <a:pt x="77684" y="0"/>
                    <a:pt x="173512" y="0"/>
                  </a:cubicBezTo>
                  <a:close/>
                </a:path>
              </a:pathLst>
            </a:custGeom>
            <a:solidFill>
              <a:srgbClr val="D2E2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9559" cy="404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09576" y="399170"/>
            <a:ext cx="219151" cy="610200"/>
            <a:chOff x="0" y="0"/>
            <a:chExt cx="292202" cy="813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227" cy="813562"/>
            </a:xfrm>
            <a:custGeom>
              <a:avLst/>
              <a:gdLst/>
              <a:ahLst/>
              <a:cxnLst/>
              <a:rect r="r" b="b" t="t" l="l"/>
              <a:pathLst>
                <a:path h="813562" w="292227">
                  <a:moveTo>
                    <a:pt x="0" y="0"/>
                  </a:moveTo>
                  <a:lnTo>
                    <a:pt x="292227" y="0"/>
                  </a:lnTo>
                  <a:lnTo>
                    <a:pt x="292227" y="813562"/>
                  </a:lnTo>
                  <a:lnTo>
                    <a:pt x="0" y="8135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2612174"/>
            <a:ext cx="16230600" cy="4878455"/>
          </a:xfrm>
          <a:custGeom>
            <a:avLst/>
            <a:gdLst/>
            <a:ahLst/>
            <a:cxnLst/>
            <a:rect r="r" b="b" t="t" l="l"/>
            <a:pathLst>
              <a:path h="4878455" w="16230600">
                <a:moveTo>
                  <a:pt x="0" y="0"/>
                </a:moveTo>
                <a:lnTo>
                  <a:pt x="16230600" y="0"/>
                </a:lnTo>
                <a:lnTo>
                  <a:pt x="16230600" y="4878454"/>
                </a:lnTo>
                <a:lnTo>
                  <a:pt x="0" y="4878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115793" y="9665672"/>
            <a:ext cx="12670595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Blockchainist Research Team - University of Information Technology, VNU-HCM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67708"/>
            <a:ext cx="16230600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Experimental Results: Research Question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59300" y="9671320"/>
            <a:ext cx="60683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7559947"/>
            <a:ext cx="16230600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500" i="true">
                <a:solidFill>
                  <a:srgbClr val="0D47A1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Figure 2. </a:t>
            </a:r>
            <a:r>
              <a:rPr lang="en-US" sz="2500" i="true">
                <a:solidFill>
                  <a:srgbClr val="0D47A1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Precision, recall, and F1 on the standard (n = 499) and Complex-Tokens (n = 150) sets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8321040"/>
            <a:ext cx="12801600" cy="658368"/>
          </a:xfrm>
          <a:prstGeom prst="roundRect">
            <a:avLst/>
          </a:prstGeom>
          <a:solidFill>
            <a:srgbClr val="EDFAF5"/>
          </a:solidFill>
          <a:ln w="13970">
            <a:solidFill>
              <a:srgbClr val="B4E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8412480"/>
            <a:ext cx="1828800" cy="310896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200" b="1">
                <a:solidFill>
                  <a:srgbClr val="009A70"/>
                </a:solidFill>
                <a:latin typeface="Agrandir"/>
              </a:defRPr>
            </a:pPr>
            <a:r>
              <a:t>Key 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8394192"/>
            <a:ext cx="10561320" cy="420624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400" b="1">
                <a:solidFill>
                  <a:srgbClr val="1D3A60"/>
                </a:solidFill>
                <a:latin typeface="Agrandir"/>
              </a:defRPr>
            </a:pPr>
            <a:r>
              <a:t>✓ Highest recall across both datasets.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312098"/>
            <a:ext cx="18288000" cy="784344"/>
            <a:chOff x="0" y="0"/>
            <a:chExt cx="812800" cy="34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4860"/>
            </a:xfrm>
            <a:custGeom>
              <a:avLst/>
              <a:gdLst/>
              <a:ahLst/>
              <a:cxnLst/>
              <a:rect r="r" b="b" t="t" l="l"/>
              <a:pathLst>
                <a:path h="3486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4860"/>
                  </a:lnTo>
                  <a:lnTo>
                    <a:pt x="0" y="3486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92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490499" y="9574153"/>
            <a:ext cx="25778499" cy="712847"/>
            <a:chOff x="0" y="0"/>
            <a:chExt cx="6789423" cy="187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89423" cy="187740"/>
            </a:xfrm>
            <a:custGeom>
              <a:avLst/>
              <a:gdLst/>
              <a:ahLst/>
              <a:cxnLst/>
              <a:rect r="r" b="b" t="t" l="l"/>
              <a:pathLst>
                <a:path h="187740" w="6789423">
                  <a:moveTo>
                    <a:pt x="6789423" y="30032"/>
                  </a:moveTo>
                  <a:lnTo>
                    <a:pt x="6789423" y="157708"/>
                  </a:lnTo>
                  <a:cubicBezTo>
                    <a:pt x="6789423" y="165673"/>
                    <a:pt x="6786259" y="173311"/>
                    <a:pt x="6780626" y="178944"/>
                  </a:cubicBezTo>
                  <a:cubicBezTo>
                    <a:pt x="6774994" y="184576"/>
                    <a:pt x="6767355" y="187740"/>
                    <a:pt x="6759391" y="187740"/>
                  </a:cubicBezTo>
                  <a:lnTo>
                    <a:pt x="30032" y="187740"/>
                  </a:lnTo>
                  <a:cubicBezTo>
                    <a:pt x="22067" y="187740"/>
                    <a:pt x="14428" y="184576"/>
                    <a:pt x="8796" y="178944"/>
                  </a:cubicBezTo>
                  <a:cubicBezTo>
                    <a:pt x="3164" y="173311"/>
                    <a:pt x="0" y="165673"/>
                    <a:pt x="0" y="157708"/>
                  </a:cubicBezTo>
                  <a:lnTo>
                    <a:pt x="0" y="30032"/>
                  </a:lnTo>
                  <a:cubicBezTo>
                    <a:pt x="0" y="22067"/>
                    <a:pt x="3164" y="14428"/>
                    <a:pt x="8796" y="8796"/>
                  </a:cubicBezTo>
                  <a:cubicBezTo>
                    <a:pt x="14428" y="3164"/>
                    <a:pt x="22067" y="0"/>
                    <a:pt x="30032" y="0"/>
                  </a:cubicBezTo>
                  <a:lnTo>
                    <a:pt x="6759391" y="0"/>
                  </a:lnTo>
                  <a:cubicBezTo>
                    <a:pt x="6767355" y="0"/>
                    <a:pt x="6774994" y="3164"/>
                    <a:pt x="6780626" y="8796"/>
                  </a:cubicBezTo>
                  <a:cubicBezTo>
                    <a:pt x="6786259" y="14428"/>
                    <a:pt x="6789423" y="22067"/>
                    <a:pt x="6789423" y="300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789423" cy="24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86388" y="9574153"/>
            <a:ext cx="1934732" cy="1317605"/>
            <a:chOff x="0" y="0"/>
            <a:chExt cx="509559" cy="3470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59" cy="347024"/>
            </a:xfrm>
            <a:custGeom>
              <a:avLst/>
              <a:gdLst/>
              <a:ahLst/>
              <a:cxnLst/>
              <a:rect r="r" b="b" t="t" l="l"/>
              <a:pathLst>
                <a:path h="347024" w="509559">
                  <a:moveTo>
                    <a:pt x="173512" y="0"/>
                  </a:moveTo>
                  <a:lnTo>
                    <a:pt x="336047" y="0"/>
                  </a:lnTo>
                  <a:cubicBezTo>
                    <a:pt x="431875" y="0"/>
                    <a:pt x="509559" y="77684"/>
                    <a:pt x="509559" y="173512"/>
                  </a:cubicBezTo>
                  <a:lnTo>
                    <a:pt x="509559" y="173512"/>
                  </a:lnTo>
                  <a:cubicBezTo>
                    <a:pt x="509559" y="269340"/>
                    <a:pt x="431875" y="347024"/>
                    <a:pt x="336047" y="347024"/>
                  </a:cubicBezTo>
                  <a:lnTo>
                    <a:pt x="173512" y="347024"/>
                  </a:lnTo>
                  <a:cubicBezTo>
                    <a:pt x="77684" y="347024"/>
                    <a:pt x="0" y="269340"/>
                    <a:pt x="0" y="173512"/>
                  </a:cubicBezTo>
                  <a:lnTo>
                    <a:pt x="0" y="173512"/>
                  </a:lnTo>
                  <a:cubicBezTo>
                    <a:pt x="0" y="77684"/>
                    <a:pt x="77684" y="0"/>
                    <a:pt x="173512" y="0"/>
                  </a:cubicBezTo>
                  <a:close/>
                </a:path>
              </a:pathLst>
            </a:custGeom>
            <a:solidFill>
              <a:srgbClr val="D2E2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9559" cy="404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09576" y="399170"/>
            <a:ext cx="219151" cy="610200"/>
            <a:chOff x="0" y="0"/>
            <a:chExt cx="292202" cy="813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227" cy="813562"/>
            </a:xfrm>
            <a:custGeom>
              <a:avLst/>
              <a:gdLst/>
              <a:ahLst/>
              <a:cxnLst/>
              <a:rect r="r" b="b" t="t" l="l"/>
              <a:pathLst>
                <a:path h="813562" w="292227">
                  <a:moveTo>
                    <a:pt x="0" y="0"/>
                  </a:moveTo>
                  <a:lnTo>
                    <a:pt x="292227" y="0"/>
                  </a:lnTo>
                  <a:lnTo>
                    <a:pt x="292227" y="813562"/>
                  </a:lnTo>
                  <a:lnTo>
                    <a:pt x="0" y="8135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3861206" y="2130456"/>
            <a:ext cx="10565588" cy="5841889"/>
          </a:xfrm>
          <a:custGeom>
            <a:avLst/>
            <a:gdLst/>
            <a:ahLst/>
            <a:cxnLst/>
            <a:rect r="r" b="b" t="t" l="l"/>
            <a:pathLst>
              <a:path h="5841889" w="10565588">
                <a:moveTo>
                  <a:pt x="0" y="0"/>
                </a:moveTo>
                <a:lnTo>
                  <a:pt x="10565588" y="0"/>
                </a:lnTo>
                <a:lnTo>
                  <a:pt x="10565588" y="5841890"/>
                </a:lnTo>
                <a:lnTo>
                  <a:pt x="0" y="5841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115793" y="9665672"/>
            <a:ext cx="12670595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Blockchainist Research Team - University of Information Technology, VNU-HCM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67708"/>
            <a:ext cx="16230600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Experimental Results: Research Question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59300" y="9671320"/>
            <a:ext cx="60683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61206" y="8041664"/>
            <a:ext cx="10565588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500" i="true">
                <a:solidFill>
                  <a:srgbClr val="0D47A1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Figure 4. </a:t>
            </a:r>
            <a:r>
              <a:rPr lang="en-US" sz="2500" i="true">
                <a:solidFill>
                  <a:srgbClr val="0D47A1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Recall versus aggregate execution time under matched replay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8366760"/>
            <a:ext cx="12801600" cy="658368"/>
          </a:xfrm>
          <a:prstGeom prst="roundRect">
            <a:avLst/>
          </a:prstGeom>
          <a:solidFill>
            <a:srgbClr val="EDFAF5"/>
          </a:solidFill>
          <a:ln w="13970">
            <a:solidFill>
              <a:srgbClr val="B4E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8458200"/>
            <a:ext cx="1828800" cy="310896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200" b="1">
                <a:solidFill>
                  <a:srgbClr val="009A70"/>
                </a:solidFill>
                <a:latin typeface="Agrandir"/>
              </a:defRPr>
            </a:pPr>
            <a:r>
              <a:t>Key 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8439912"/>
            <a:ext cx="10561320" cy="420624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400" b="1">
                <a:solidFill>
                  <a:srgbClr val="1D3A60"/>
                </a:solidFill>
                <a:latin typeface="Agrandir"/>
              </a:defRPr>
            </a:pPr>
            <a:r>
              <a:t>✓ Highest recall with competitive execution time.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312098"/>
            <a:ext cx="18288000" cy="784344"/>
            <a:chOff x="0" y="0"/>
            <a:chExt cx="812800" cy="34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4860"/>
            </a:xfrm>
            <a:custGeom>
              <a:avLst/>
              <a:gdLst/>
              <a:ahLst/>
              <a:cxnLst/>
              <a:rect r="r" b="b" t="t" l="l"/>
              <a:pathLst>
                <a:path h="3486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4860"/>
                  </a:lnTo>
                  <a:lnTo>
                    <a:pt x="0" y="3486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92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490499" y="9574153"/>
            <a:ext cx="25778499" cy="712847"/>
            <a:chOff x="0" y="0"/>
            <a:chExt cx="6789423" cy="187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89423" cy="187740"/>
            </a:xfrm>
            <a:custGeom>
              <a:avLst/>
              <a:gdLst/>
              <a:ahLst/>
              <a:cxnLst/>
              <a:rect r="r" b="b" t="t" l="l"/>
              <a:pathLst>
                <a:path h="187740" w="6789423">
                  <a:moveTo>
                    <a:pt x="6789423" y="30032"/>
                  </a:moveTo>
                  <a:lnTo>
                    <a:pt x="6789423" y="157708"/>
                  </a:lnTo>
                  <a:cubicBezTo>
                    <a:pt x="6789423" y="165673"/>
                    <a:pt x="6786259" y="173311"/>
                    <a:pt x="6780626" y="178944"/>
                  </a:cubicBezTo>
                  <a:cubicBezTo>
                    <a:pt x="6774994" y="184576"/>
                    <a:pt x="6767355" y="187740"/>
                    <a:pt x="6759391" y="187740"/>
                  </a:cubicBezTo>
                  <a:lnTo>
                    <a:pt x="30032" y="187740"/>
                  </a:lnTo>
                  <a:cubicBezTo>
                    <a:pt x="22067" y="187740"/>
                    <a:pt x="14428" y="184576"/>
                    <a:pt x="8796" y="178944"/>
                  </a:cubicBezTo>
                  <a:cubicBezTo>
                    <a:pt x="3164" y="173311"/>
                    <a:pt x="0" y="165673"/>
                    <a:pt x="0" y="157708"/>
                  </a:cubicBezTo>
                  <a:lnTo>
                    <a:pt x="0" y="30032"/>
                  </a:lnTo>
                  <a:cubicBezTo>
                    <a:pt x="0" y="22067"/>
                    <a:pt x="3164" y="14428"/>
                    <a:pt x="8796" y="8796"/>
                  </a:cubicBezTo>
                  <a:cubicBezTo>
                    <a:pt x="14428" y="3164"/>
                    <a:pt x="22067" y="0"/>
                    <a:pt x="30032" y="0"/>
                  </a:cubicBezTo>
                  <a:lnTo>
                    <a:pt x="6759391" y="0"/>
                  </a:lnTo>
                  <a:cubicBezTo>
                    <a:pt x="6767355" y="0"/>
                    <a:pt x="6774994" y="3164"/>
                    <a:pt x="6780626" y="8796"/>
                  </a:cubicBezTo>
                  <a:cubicBezTo>
                    <a:pt x="6786259" y="14428"/>
                    <a:pt x="6789423" y="22067"/>
                    <a:pt x="6789423" y="300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789423" cy="24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86388" y="9574153"/>
            <a:ext cx="1934732" cy="1317605"/>
            <a:chOff x="0" y="0"/>
            <a:chExt cx="509559" cy="3470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59" cy="347024"/>
            </a:xfrm>
            <a:custGeom>
              <a:avLst/>
              <a:gdLst/>
              <a:ahLst/>
              <a:cxnLst/>
              <a:rect r="r" b="b" t="t" l="l"/>
              <a:pathLst>
                <a:path h="347024" w="509559">
                  <a:moveTo>
                    <a:pt x="173512" y="0"/>
                  </a:moveTo>
                  <a:lnTo>
                    <a:pt x="336047" y="0"/>
                  </a:lnTo>
                  <a:cubicBezTo>
                    <a:pt x="431875" y="0"/>
                    <a:pt x="509559" y="77684"/>
                    <a:pt x="509559" y="173512"/>
                  </a:cubicBezTo>
                  <a:lnTo>
                    <a:pt x="509559" y="173512"/>
                  </a:lnTo>
                  <a:cubicBezTo>
                    <a:pt x="509559" y="269340"/>
                    <a:pt x="431875" y="347024"/>
                    <a:pt x="336047" y="347024"/>
                  </a:cubicBezTo>
                  <a:lnTo>
                    <a:pt x="173512" y="347024"/>
                  </a:lnTo>
                  <a:cubicBezTo>
                    <a:pt x="77684" y="347024"/>
                    <a:pt x="0" y="269340"/>
                    <a:pt x="0" y="173512"/>
                  </a:cubicBezTo>
                  <a:lnTo>
                    <a:pt x="0" y="173512"/>
                  </a:lnTo>
                  <a:cubicBezTo>
                    <a:pt x="0" y="77684"/>
                    <a:pt x="77684" y="0"/>
                    <a:pt x="173512" y="0"/>
                  </a:cubicBezTo>
                  <a:close/>
                </a:path>
              </a:pathLst>
            </a:custGeom>
            <a:solidFill>
              <a:srgbClr val="D2E2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9559" cy="404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09576" y="399170"/>
            <a:ext cx="219151" cy="610200"/>
            <a:chOff x="0" y="0"/>
            <a:chExt cx="292202" cy="813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227" cy="813562"/>
            </a:xfrm>
            <a:custGeom>
              <a:avLst/>
              <a:gdLst/>
              <a:ahLst/>
              <a:cxnLst/>
              <a:rect r="r" b="b" t="t" l="l"/>
              <a:pathLst>
                <a:path h="813562" w="292227">
                  <a:moveTo>
                    <a:pt x="0" y="0"/>
                  </a:moveTo>
                  <a:lnTo>
                    <a:pt x="292227" y="0"/>
                  </a:lnTo>
                  <a:lnTo>
                    <a:pt x="292227" y="813562"/>
                  </a:lnTo>
                  <a:lnTo>
                    <a:pt x="0" y="8135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115793" y="9665672"/>
            <a:ext cx="12670595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Blockchainist Research Team - University of Information Technology, VNU-HCM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67708"/>
            <a:ext cx="16230600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Experimental Results: Research Question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671320"/>
            <a:ext cx="60683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02</a:t>
            </a:r>
          </a:p>
        </p:txBody>
      </p:sp>
      <p:graphicFrame>
        <p:nvGraphicFramePr>
          <p:cNvPr name="Object 16" id="16"/>
          <p:cNvGraphicFramePr/>
          <p:nvPr/>
        </p:nvGraphicFramePr>
        <p:xfrm>
          <a:off x="1028700" y="3077933"/>
          <a:ext cx="7586157" cy="4274588"/>
        </p:xfrm>
        <a:graphic>
          <a:graphicData uri="http://schemas.openxmlformats.org/presentationml/2006/ole">
            <p:oleObj imgW="9105900" imgH="5791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1028700" y="2339332"/>
            <a:ext cx="16230600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500" i="true">
                <a:solidFill>
                  <a:srgbClr val="0D47A1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Table II. </a:t>
            </a:r>
            <a:r>
              <a:rPr lang="en-US" sz="2500" i="true">
                <a:solidFill>
                  <a:srgbClr val="0D47A1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Ablation Study on the Standard Dataset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7882127"/>
            <a:ext cx="12801600" cy="658368"/>
          </a:xfrm>
          <a:prstGeom prst="roundRect">
            <a:avLst/>
          </a:prstGeom>
          <a:solidFill>
            <a:srgbClr val="EDFAF5"/>
          </a:solidFill>
          <a:ln w="13970">
            <a:solidFill>
              <a:srgbClr val="B4E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7973567"/>
            <a:ext cx="1828800" cy="310896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200" b="1">
                <a:solidFill>
                  <a:srgbClr val="009A70"/>
                </a:solidFill>
                <a:latin typeface="Agrandir"/>
              </a:defRPr>
            </a:pPr>
            <a:r>
              <a:t>Key 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7955279"/>
            <a:ext cx="10561320" cy="420624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400" b="1">
                <a:solidFill>
                  <a:srgbClr val="1D3A60"/>
                </a:solidFill>
                <a:latin typeface="Agrandir"/>
              </a:defRPr>
            </a:pPr>
            <a:r>
              <a:t>✓ SDG pruning provides the greatest runtime reduction.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312098"/>
            <a:ext cx="18288000" cy="784344"/>
            <a:chOff x="0" y="0"/>
            <a:chExt cx="812800" cy="34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4860"/>
            </a:xfrm>
            <a:custGeom>
              <a:avLst/>
              <a:gdLst/>
              <a:ahLst/>
              <a:cxnLst/>
              <a:rect r="r" b="b" t="t" l="l"/>
              <a:pathLst>
                <a:path h="3486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4860"/>
                  </a:lnTo>
                  <a:lnTo>
                    <a:pt x="0" y="3486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92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490499" y="9574153"/>
            <a:ext cx="25778499" cy="712847"/>
            <a:chOff x="0" y="0"/>
            <a:chExt cx="6789423" cy="187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89423" cy="187740"/>
            </a:xfrm>
            <a:custGeom>
              <a:avLst/>
              <a:gdLst/>
              <a:ahLst/>
              <a:cxnLst/>
              <a:rect r="r" b="b" t="t" l="l"/>
              <a:pathLst>
                <a:path h="187740" w="6789423">
                  <a:moveTo>
                    <a:pt x="6789423" y="30032"/>
                  </a:moveTo>
                  <a:lnTo>
                    <a:pt x="6789423" y="157708"/>
                  </a:lnTo>
                  <a:cubicBezTo>
                    <a:pt x="6789423" y="165673"/>
                    <a:pt x="6786259" y="173311"/>
                    <a:pt x="6780626" y="178944"/>
                  </a:cubicBezTo>
                  <a:cubicBezTo>
                    <a:pt x="6774994" y="184576"/>
                    <a:pt x="6767355" y="187740"/>
                    <a:pt x="6759391" y="187740"/>
                  </a:cubicBezTo>
                  <a:lnTo>
                    <a:pt x="30032" y="187740"/>
                  </a:lnTo>
                  <a:cubicBezTo>
                    <a:pt x="22067" y="187740"/>
                    <a:pt x="14428" y="184576"/>
                    <a:pt x="8796" y="178944"/>
                  </a:cubicBezTo>
                  <a:cubicBezTo>
                    <a:pt x="3164" y="173311"/>
                    <a:pt x="0" y="165673"/>
                    <a:pt x="0" y="157708"/>
                  </a:cubicBezTo>
                  <a:lnTo>
                    <a:pt x="0" y="30032"/>
                  </a:lnTo>
                  <a:cubicBezTo>
                    <a:pt x="0" y="22067"/>
                    <a:pt x="3164" y="14428"/>
                    <a:pt x="8796" y="8796"/>
                  </a:cubicBezTo>
                  <a:cubicBezTo>
                    <a:pt x="14428" y="3164"/>
                    <a:pt x="22067" y="0"/>
                    <a:pt x="30032" y="0"/>
                  </a:cubicBezTo>
                  <a:lnTo>
                    <a:pt x="6759391" y="0"/>
                  </a:lnTo>
                  <a:cubicBezTo>
                    <a:pt x="6767355" y="0"/>
                    <a:pt x="6774994" y="3164"/>
                    <a:pt x="6780626" y="8796"/>
                  </a:cubicBezTo>
                  <a:cubicBezTo>
                    <a:pt x="6786259" y="14428"/>
                    <a:pt x="6789423" y="22067"/>
                    <a:pt x="6789423" y="300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789423" cy="24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86388" y="9574153"/>
            <a:ext cx="1934732" cy="1317605"/>
            <a:chOff x="0" y="0"/>
            <a:chExt cx="509559" cy="3470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59" cy="347024"/>
            </a:xfrm>
            <a:custGeom>
              <a:avLst/>
              <a:gdLst/>
              <a:ahLst/>
              <a:cxnLst/>
              <a:rect r="r" b="b" t="t" l="l"/>
              <a:pathLst>
                <a:path h="347024" w="509559">
                  <a:moveTo>
                    <a:pt x="173512" y="0"/>
                  </a:moveTo>
                  <a:lnTo>
                    <a:pt x="336047" y="0"/>
                  </a:lnTo>
                  <a:cubicBezTo>
                    <a:pt x="431875" y="0"/>
                    <a:pt x="509559" y="77684"/>
                    <a:pt x="509559" y="173512"/>
                  </a:cubicBezTo>
                  <a:lnTo>
                    <a:pt x="509559" y="173512"/>
                  </a:lnTo>
                  <a:cubicBezTo>
                    <a:pt x="509559" y="269340"/>
                    <a:pt x="431875" y="347024"/>
                    <a:pt x="336047" y="347024"/>
                  </a:cubicBezTo>
                  <a:lnTo>
                    <a:pt x="173512" y="347024"/>
                  </a:lnTo>
                  <a:cubicBezTo>
                    <a:pt x="77684" y="347024"/>
                    <a:pt x="0" y="269340"/>
                    <a:pt x="0" y="173512"/>
                  </a:cubicBezTo>
                  <a:lnTo>
                    <a:pt x="0" y="173512"/>
                  </a:lnTo>
                  <a:cubicBezTo>
                    <a:pt x="0" y="77684"/>
                    <a:pt x="77684" y="0"/>
                    <a:pt x="173512" y="0"/>
                  </a:cubicBezTo>
                  <a:close/>
                </a:path>
              </a:pathLst>
            </a:custGeom>
            <a:solidFill>
              <a:srgbClr val="D2E2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9559" cy="404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09576" y="399170"/>
            <a:ext cx="219151" cy="610200"/>
            <a:chOff x="0" y="0"/>
            <a:chExt cx="292202" cy="813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227" cy="813562"/>
            </a:xfrm>
            <a:custGeom>
              <a:avLst/>
              <a:gdLst/>
              <a:ahLst/>
              <a:cxnLst/>
              <a:rect r="r" b="b" t="t" l="l"/>
              <a:pathLst>
                <a:path h="813562" w="292227">
                  <a:moveTo>
                    <a:pt x="0" y="0"/>
                  </a:moveTo>
                  <a:lnTo>
                    <a:pt x="292227" y="0"/>
                  </a:lnTo>
                  <a:lnTo>
                    <a:pt x="292227" y="813562"/>
                  </a:lnTo>
                  <a:lnTo>
                    <a:pt x="0" y="8135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2229209"/>
            <a:ext cx="16230600" cy="5261420"/>
          </a:xfrm>
          <a:custGeom>
            <a:avLst/>
            <a:gdLst/>
            <a:ahLst/>
            <a:cxnLst/>
            <a:rect r="r" b="b" t="t" l="l"/>
            <a:pathLst>
              <a:path h="5261420" w="16230600">
                <a:moveTo>
                  <a:pt x="0" y="0"/>
                </a:moveTo>
                <a:lnTo>
                  <a:pt x="16230600" y="0"/>
                </a:lnTo>
                <a:lnTo>
                  <a:pt x="16230600" y="5261419"/>
                </a:lnTo>
                <a:lnTo>
                  <a:pt x="0" y="5261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115793" y="9665672"/>
            <a:ext cx="12670595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Blockchainist Research Team - University of Information Technology, VNU-HCM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67708"/>
            <a:ext cx="16230600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Experimental Results: Research Question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59300" y="9671320"/>
            <a:ext cx="60683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7559947"/>
            <a:ext cx="16230600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500" i="true">
                <a:solidFill>
                  <a:srgbClr val="0D47A1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Figure 5. </a:t>
            </a:r>
            <a:r>
              <a:rPr lang="en-US" sz="2500" i="true">
                <a:solidFill>
                  <a:srgbClr val="0D47A1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Recall and runtime versus inter-procedural depth D and per-path fuzzing budget 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8321040"/>
            <a:ext cx="12801600" cy="658368"/>
          </a:xfrm>
          <a:prstGeom prst="roundRect">
            <a:avLst/>
          </a:prstGeom>
          <a:solidFill>
            <a:srgbClr val="EDFAF5"/>
          </a:solidFill>
          <a:ln w="13970">
            <a:solidFill>
              <a:srgbClr val="B4E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8412480"/>
            <a:ext cx="1828800" cy="310896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200" b="1">
                <a:solidFill>
                  <a:srgbClr val="009A70"/>
                </a:solidFill>
                <a:latin typeface="Agrandir"/>
              </a:defRPr>
            </a:pPr>
            <a:r>
              <a:t>Key 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8394192"/>
            <a:ext cx="10561320" cy="420624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400" b="1">
                <a:solidFill>
                  <a:srgbClr val="1D3A60"/>
                </a:solidFill>
                <a:latin typeface="Agrandir"/>
              </a:defRPr>
            </a:pPr>
            <a:r>
              <a:t>✓ D = 3 and N = 1000 offer the best trade-off.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312098"/>
            <a:ext cx="18288000" cy="784344"/>
            <a:chOff x="0" y="0"/>
            <a:chExt cx="812800" cy="34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4860"/>
            </a:xfrm>
            <a:custGeom>
              <a:avLst/>
              <a:gdLst/>
              <a:ahLst/>
              <a:cxnLst/>
              <a:rect r="r" b="b" t="t" l="l"/>
              <a:pathLst>
                <a:path h="3486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4860"/>
                  </a:lnTo>
                  <a:lnTo>
                    <a:pt x="0" y="3486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92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490499" y="9574153"/>
            <a:ext cx="25778499" cy="712847"/>
            <a:chOff x="0" y="0"/>
            <a:chExt cx="6789423" cy="187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89423" cy="187740"/>
            </a:xfrm>
            <a:custGeom>
              <a:avLst/>
              <a:gdLst/>
              <a:ahLst/>
              <a:cxnLst/>
              <a:rect r="r" b="b" t="t" l="l"/>
              <a:pathLst>
                <a:path h="187740" w="6789423">
                  <a:moveTo>
                    <a:pt x="6789423" y="30032"/>
                  </a:moveTo>
                  <a:lnTo>
                    <a:pt x="6789423" y="157708"/>
                  </a:lnTo>
                  <a:cubicBezTo>
                    <a:pt x="6789423" y="165673"/>
                    <a:pt x="6786259" y="173311"/>
                    <a:pt x="6780626" y="178944"/>
                  </a:cubicBezTo>
                  <a:cubicBezTo>
                    <a:pt x="6774994" y="184576"/>
                    <a:pt x="6767355" y="187740"/>
                    <a:pt x="6759391" y="187740"/>
                  </a:cubicBezTo>
                  <a:lnTo>
                    <a:pt x="30032" y="187740"/>
                  </a:lnTo>
                  <a:cubicBezTo>
                    <a:pt x="22067" y="187740"/>
                    <a:pt x="14428" y="184576"/>
                    <a:pt x="8796" y="178944"/>
                  </a:cubicBezTo>
                  <a:cubicBezTo>
                    <a:pt x="3164" y="173311"/>
                    <a:pt x="0" y="165673"/>
                    <a:pt x="0" y="157708"/>
                  </a:cubicBezTo>
                  <a:lnTo>
                    <a:pt x="0" y="30032"/>
                  </a:lnTo>
                  <a:cubicBezTo>
                    <a:pt x="0" y="22067"/>
                    <a:pt x="3164" y="14428"/>
                    <a:pt x="8796" y="8796"/>
                  </a:cubicBezTo>
                  <a:cubicBezTo>
                    <a:pt x="14428" y="3164"/>
                    <a:pt x="22067" y="0"/>
                    <a:pt x="30032" y="0"/>
                  </a:cubicBezTo>
                  <a:lnTo>
                    <a:pt x="6759391" y="0"/>
                  </a:lnTo>
                  <a:cubicBezTo>
                    <a:pt x="6767355" y="0"/>
                    <a:pt x="6774994" y="3164"/>
                    <a:pt x="6780626" y="8796"/>
                  </a:cubicBezTo>
                  <a:cubicBezTo>
                    <a:pt x="6786259" y="14428"/>
                    <a:pt x="6789423" y="22067"/>
                    <a:pt x="6789423" y="300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789423" cy="24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86388" y="9574153"/>
            <a:ext cx="1934732" cy="1317605"/>
            <a:chOff x="0" y="0"/>
            <a:chExt cx="509559" cy="3470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59" cy="347024"/>
            </a:xfrm>
            <a:custGeom>
              <a:avLst/>
              <a:gdLst/>
              <a:ahLst/>
              <a:cxnLst/>
              <a:rect r="r" b="b" t="t" l="l"/>
              <a:pathLst>
                <a:path h="347024" w="509559">
                  <a:moveTo>
                    <a:pt x="173512" y="0"/>
                  </a:moveTo>
                  <a:lnTo>
                    <a:pt x="336047" y="0"/>
                  </a:lnTo>
                  <a:cubicBezTo>
                    <a:pt x="431875" y="0"/>
                    <a:pt x="509559" y="77684"/>
                    <a:pt x="509559" y="173512"/>
                  </a:cubicBezTo>
                  <a:lnTo>
                    <a:pt x="509559" y="173512"/>
                  </a:lnTo>
                  <a:cubicBezTo>
                    <a:pt x="509559" y="269340"/>
                    <a:pt x="431875" y="347024"/>
                    <a:pt x="336047" y="347024"/>
                  </a:cubicBezTo>
                  <a:lnTo>
                    <a:pt x="173512" y="347024"/>
                  </a:lnTo>
                  <a:cubicBezTo>
                    <a:pt x="77684" y="347024"/>
                    <a:pt x="0" y="269340"/>
                    <a:pt x="0" y="173512"/>
                  </a:cubicBezTo>
                  <a:lnTo>
                    <a:pt x="0" y="173512"/>
                  </a:lnTo>
                  <a:cubicBezTo>
                    <a:pt x="0" y="77684"/>
                    <a:pt x="77684" y="0"/>
                    <a:pt x="173512" y="0"/>
                  </a:cubicBezTo>
                  <a:close/>
                </a:path>
              </a:pathLst>
            </a:custGeom>
            <a:solidFill>
              <a:srgbClr val="D2E2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9559" cy="404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09576" y="399170"/>
            <a:ext cx="219151" cy="610200"/>
            <a:chOff x="0" y="0"/>
            <a:chExt cx="292202" cy="813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227" cy="813562"/>
            </a:xfrm>
            <a:custGeom>
              <a:avLst/>
              <a:gdLst/>
              <a:ahLst/>
              <a:cxnLst/>
              <a:rect r="r" b="b" t="t" l="l"/>
              <a:pathLst>
                <a:path h="813562" w="292227">
                  <a:moveTo>
                    <a:pt x="0" y="0"/>
                  </a:moveTo>
                  <a:lnTo>
                    <a:pt x="292227" y="0"/>
                  </a:lnTo>
                  <a:lnTo>
                    <a:pt x="292227" y="813562"/>
                  </a:lnTo>
                  <a:lnTo>
                    <a:pt x="0" y="8135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60120" y="1828800"/>
            <a:ext cx="9875520" cy="5623560"/>
          </a:xfrm>
          <a:custGeom>
            <a:avLst/>
            <a:gdLst/>
            <a:ahLst/>
            <a:cxnLst/>
            <a:rect r="r" b="b" t="t" l="l"/>
            <a:pathLst>
              <a:path h="6446102" w="11667153">
                <a:moveTo>
                  <a:pt x="0" y="0"/>
                </a:moveTo>
                <a:lnTo>
                  <a:pt x="11667152" y="0"/>
                </a:lnTo>
                <a:lnTo>
                  <a:pt x="11667152" y="6446102"/>
                </a:lnTo>
                <a:lnTo>
                  <a:pt x="0" y="64461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115793" y="9665672"/>
            <a:ext cx="12670595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Blockchainist Research Team - University of Information Technology, VNU-HCM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67708"/>
            <a:ext cx="16230600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Discussion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59300" y="9671320"/>
            <a:ext cx="60683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0120" y="7635240"/>
            <a:ext cx="9875520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500" i="true">
                <a:solidFill>
                  <a:srgbClr val="0D47A1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Figure 3. </a:t>
            </a:r>
            <a:r>
              <a:rPr lang="en-US" sz="2500" i="true">
                <a:solidFill>
                  <a:srgbClr val="0D47A1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Candidate functions classified as true positives or false positives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01400" y="1874519"/>
            <a:ext cx="5440680" cy="6172200"/>
          </a:xfrm>
          <a:prstGeom prst="roundRect">
            <a:avLst/>
          </a:prstGeom>
          <a:solidFill>
            <a:srgbClr val="F6FBFF"/>
          </a:solidFill>
          <a:ln w="13970">
            <a:solidFill>
              <a:srgbClr val="BCD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39728" y="2148840"/>
            <a:ext cx="4800600" cy="43891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800" b="1">
                <a:solidFill>
                  <a:srgbClr val="003E7D"/>
                </a:solidFill>
                <a:latin typeface="Agrandir"/>
              </a:defRPr>
            </a:pPr>
            <a:r>
              <a:t>Top Root Causes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567160" y="2999232"/>
            <a:ext cx="470916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77472" y="3163824"/>
            <a:ext cx="384048" cy="384048"/>
          </a:xfrm>
          <a:prstGeom prst="ellipse">
            <a:avLst/>
          </a:prstGeom>
          <a:solidFill>
            <a:srgbClr val="0053A6"/>
          </a:solidFill>
          <a:ln>
            <a:solidFill>
              <a:srgbClr val="00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77472" y="3214116"/>
            <a:ext cx="384048" cy="31089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grandir"/>
              </a:defRPr>
            </a:pPr>
            <a:r>
              <a:t>SDG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26112" y="3163824"/>
            <a:ext cx="3657600" cy="329184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500" b="1">
                <a:solidFill>
                  <a:srgbClr val="1D3A60"/>
                </a:solidFill>
                <a:latin typeface="Agrandir"/>
              </a:defRPr>
            </a:pPr>
            <a:r>
              <a:t>SDG slicing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67160" y="3986783"/>
            <a:ext cx="470916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77472" y="4151375"/>
            <a:ext cx="384048" cy="384048"/>
          </a:xfrm>
          <a:prstGeom prst="ellipse">
            <a:avLst/>
          </a:prstGeom>
          <a:solidFill>
            <a:srgbClr val="0053A6"/>
          </a:solidFill>
          <a:ln>
            <a:solidFill>
              <a:srgbClr val="00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77472" y="4201667"/>
            <a:ext cx="384048" cy="31089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grandir"/>
              </a:defRPr>
            </a:pPr>
            <a:r>
              <a:t>ADM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26112" y="4151375"/>
            <a:ext cx="3657600" cy="329184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500" b="1">
                <a:solidFill>
                  <a:srgbClr val="1D3A60"/>
                </a:solidFill>
                <a:latin typeface="Agrandir"/>
              </a:defRPr>
            </a:pPr>
            <a:r>
              <a:t>Admin adjustment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567160" y="4974336"/>
            <a:ext cx="470916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777472" y="5138927"/>
            <a:ext cx="384048" cy="384048"/>
          </a:xfrm>
          <a:prstGeom prst="ellipse">
            <a:avLst/>
          </a:prstGeom>
          <a:solidFill>
            <a:srgbClr val="0053A6"/>
          </a:solidFill>
          <a:ln>
            <a:solidFill>
              <a:srgbClr val="00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77472" y="5189219"/>
            <a:ext cx="384048" cy="31089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grandir"/>
              </a:defRPr>
            </a:pPr>
            <a:r>
              <a:t>PRX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26112" y="5138927"/>
            <a:ext cx="3657600" cy="329184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500" b="1">
                <a:solidFill>
                  <a:srgbClr val="1D3A60"/>
                </a:solidFill>
                <a:latin typeface="Agrandir"/>
              </a:defRPr>
            </a:pPr>
            <a:r>
              <a:t>Dynamic proxy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567160" y="5961888"/>
            <a:ext cx="470916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777472" y="6126479"/>
            <a:ext cx="384048" cy="384048"/>
          </a:xfrm>
          <a:prstGeom prst="ellipse">
            <a:avLst/>
          </a:prstGeom>
          <a:solidFill>
            <a:srgbClr val="0053A6"/>
          </a:solidFill>
          <a:ln>
            <a:solidFill>
              <a:srgbClr val="00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77472" y="6176771"/>
            <a:ext cx="384048" cy="31089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grandir"/>
              </a:defRPr>
            </a:pPr>
            <a:r>
              <a:t>POOL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26112" y="6126479"/>
            <a:ext cx="3657600" cy="329184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500" b="1">
                <a:solidFill>
                  <a:srgbClr val="1D3A60"/>
                </a:solidFill>
                <a:latin typeface="Agrandir"/>
              </a:defRPr>
            </a:pPr>
            <a:r>
              <a:t>Pool context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312098"/>
            <a:ext cx="18288000" cy="784344"/>
            <a:chOff x="0" y="0"/>
            <a:chExt cx="812800" cy="34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4860"/>
            </a:xfrm>
            <a:custGeom>
              <a:avLst/>
              <a:gdLst/>
              <a:ahLst/>
              <a:cxnLst/>
              <a:rect r="r" b="b" t="t" l="l"/>
              <a:pathLst>
                <a:path h="3486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4860"/>
                  </a:lnTo>
                  <a:lnTo>
                    <a:pt x="0" y="3486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92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490499" y="9574153"/>
            <a:ext cx="25778499" cy="712847"/>
            <a:chOff x="0" y="0"/>
            <a:chExt cx="6789423" cy="187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89423" cy="187740"/>
            </a:xfrm>
            <a:custGeom>
              <a:avLst/>
              <a:gdLst/>
              <a:ahLst/>
              <a:cxnLst/>
              <a:rect r="r" b="b" t="t" l="l"/>
              <a:pathLst>
                <a:path h="187740" w="6789423">
                  <a:moveTo>
                    <a:pt x="6789423" y="30032"/>
                  </a:moveTo>
                  <a:lnTo>
                    <a:pt x="6789423" y="157708"/>
                  </a:lnTo>
                  <a:cubicBezTo>
                    <a:pt x="6789423" y="165673"/>
                    <a:pt x="6786259" y="173311"/>
                    <a:pt x="6780626" y="178944"/>
                  </a:cubicBezTo>
                  <a:cubicBezTo>
                    <a:pt x="6774994" y="184576"/>
                    <a:pt x="6767355" y="187740"/>
                    <a:pt x="6759391" y="187740"/>
                  </a:cubicBezTo>
                  <a:lnTo>
                    <a:pt x="30032" y="187740"/>
                  </a:lnTo>
                  <a:cubicBezTo>
                    <a:pt x="22067" y="187740"/>
                    <a:pt x="14428" y="184576"/>
                    <a:pt x="8796" y="178944"/>
                  </a:cubicBezTo>
                  <a:cubicBezTo>
                    <a:pt x="3164" y="173311"/>
                    <a:pt x="0" y="165673"/>
                    <a:pt x="0" y="157708"/>
                  </a:cubicBezTo>
                  <a:lnTo>
                    <a:pt x="0" y="30032"/>
                  </a:lnTo>
                  <a:cubicBezTo>
                    <a:pt x="0" y="22067"/>
                    <a:pt x="3164" y="14428"/>
                    <a:pt x="8796" y="8796"/>
                  </a:cubicBezTo>
                  <a:cubicBezTo>
                    <a:pt x="14428" y="3164"/>
                    <a:pt x="22067" y="0"/>
                    <a:pt x="30032" y="0"/>
                  </a:cubicBezTo>
                  <a:lnTo>
                    <a:pt x="6759391" y="0"/>
                  </a:lnTo>
                  <a:cubicBezTo>
                    <a:pt x="6767355" y="0"/>
                    <a:pt x="6774994" y="3164"/>
                    <a:pt x="6780626" y="8796"/>
                  </a:cubicBezTo>
                  <a:cubicBezTo>
                    <a:pt x="6786259" y="14428"/>
                    <a:pt x="6789423" y="22067"/>
                    <a:pt x="6789423" y="300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789423" cy="24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86388" y="9574153"/>
            <a:ext cx="1934732" cy="1317605"/>
            <a:chOff x="0" y="0"/>
            <a:chExt cx="509559" cy="3470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59" cy="347024"/>
            </a:xfrm>
            <a:custGeom>
              <a:avLst/>
              <a:gdLst/>
              <a:ahLst/>
              <a:cxnLst/>
              <a:rect r="r" b="b" t="t" l="l"/>
              <a:pathLst>
                <a:path h="347024" w="509559">
                  <a:moveTo>
                    <a:pt x="173512" y="0"/>
                  </a:moveTo>
                  <a:lnTo>
                    <a:pt x="336047" y="0"/>
                  </a:lnTo>
                  <a:cubicBezTo>
                    <a:pt x="431875" y="0"/>
                    <a:pt x="509559" y="77684"/>
                    <a:pt x="509559" y="173512"/>
                  </a:cubicBezTo>
                  <a:lnTo>
                    <a:pt x="509559" y="173512"/>
                  </a:lnTo>
                  <a:cubicBezTo>
                    <a:pt x="509559" y="269340"/>
                    <a:pt x="431875" y="347024"/>
                    <a:pt x="336047" y="347024"/>
                  </a:cubicBezTo>
                  <a:lnTo>
                    <a:pt x="173512" y="347024"/>
                  </a:lnTo>
                  <a:cubicBezTo>
                    <a:pt x="77684" y="347024"/>
                    <a:pt x="0" y="269340"/>
                    <a:pt x="0" y="173512"/>
                  </a:cubicBezTo>
                  <a:lnTo>
                    <a:pt x="0" y="173512"/>
                  </a:lnTo>
                  <a:cubicBezTo>
                    <a:pt x="0" y="77684"/>
                    <a:pt x="77684" y="0"/>
                    <a:pt x="173512" y="0"/>
                  </a:cubicBezTo>
                  <a:close/>
                </a:path>
              </a:pathLst>
            </a:custGeom>
            <a:solidFill>
              <a:srgbClr val="D2E2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9559" cy="404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09576" y="399170"/>
            <a:ext cx="219151" cy="610200"/>
            <a:chOff x="0" y="0"/>
            <a:chExt cx="292202" cy="813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227" cy="813562"/>
            </a:xfrm>
            <a:custGeom>
              <a:avLst/>
              <a:gdLst/>
              <a:ahLst/>
              <a:cxnLst/>
              <a:rect r="r" b="b" t="t" l="l"/>
              <a:pathLst>
                <a:path h="813562" w="292227">
                  <a:moveTo>
                    <a:pt x="0" y="0"/>
                  </a:moveTo>
                  <a:lnTo>
                    <a:pt x="292227" y="0"/>
                  </a:lnTo>
                  <a:lnTo>
                    <a:pt x="292227" y="813562"/>
                  </a:lnTo>
                  <a:lnTo>
                    <a:pt x="0" y="8135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115793" y="9665672"/>
            <a:ext cx="12670595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Blockchainist Research Team - University of Information Technology, VNU-HCM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67708"/>
            <a:ext cx="16230600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Discussion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671320"/>
            <a:ext cx="60683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02</a:t>
            </a:r>
          </a:p>
        </p:txBody>
      </p:sp>
      <p:graphicFrame>
        <p:nvGraphicFramePr>
          <p:cNvPr name="Object 16" id="16"/>
          <p:cNvGraphicFramePr/>
          <p:nvPr/>
        </p:nvGraphicFramePr>
        <p:xfrm>
          <a:off x="1028700" y="2167227"/>
          <a:ext cx="7586157" cy="4274588"/>
        </p:xfrm>
        <a:graphic>
          <a:graphicData uri="http://schemas.openxmlformats.org/presentationml/2006/ole">
            <p:oleObj imgW="9105900" imgH="5791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1028700" y="1428626"/>
            <a:ext cx="16230600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500" i="true">
                <a:solidFill>
                  <a:srgbClr val="0D47A1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Table III. </a:t>
            </a:r>
            <a:r>
              <a:rPr lang="en-US" sz="2500" i="true">
                <a:solidFill>
                  <a:srgbClr val="0D47A1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Root Causes in 200 Sampled False-Positives Alerts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312098"/>
            <a:ext cx="18288000" cy="784344"/>
            <a:chOff x="0" y="0"/>
            <a:chExt cx="812800" cy="34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4860"/>
            </a:xfrm>
            <a:custGeom>
              <a:avLst/>
              <a:gdLst/>
              <a:ahLst/>
              <a:cxnLst/>
              <a:rect r="r" b="b" t="t" l="l"/>
              <a:pathLst>
                <a:path h="3486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4860"/>
                  </a:lnTo>
                  <a:lnTo>
                    <a:pt x="0" y="3486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92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490499" y="9574153"/>
            <a:ext cx="25778499" cy="712847"/>
            <a:chOff x="0" y="0"/>
            <a:chExt cx="6789423" cy="187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89423" cy="187740"/>
            </a:xfrm>
            <a:custGeom>
              <a:avLst/>
              <a:gdLst/>
              <a:ahLst/>
              <a:cxnLst/>
              <a:rect r="r" b="b" t="t" l="l"/>
              <a:pathLst>
                <a:path h="187740" w="6789423">
                  <a:moveTo>
                    <a:pt x="6789423" y="30032"/>
                  </a:moveTo>
                  <a:lnTo>
                    <a:pt x="6789423" y="157708"/>
                  </a:lnTo>
                  <a:cubicBezTo>
                    <a:pt x="6789423" y="165673"/>
                    <a:pt x="6786259" y="173311"/>
                    <a:pt x="6780626" y="178944"/>
                  </a:cubicBezTo>
                  <a:cubicBezTo>
                    <a:pt x="6774994" y="184576"/>
                    <a:pt x="6767355" y="187740"/>
                    <a:pt x="6759391" y="187740"/>
                  </a:cubicBezTo>
                  <a:lnTo>
                    <a:pt x="30032" y="187740"/>
                  </a:lnTo>
                  <a:cubicBezTo>
                    <a:pt x="22067" y="187740"/>
                    <a:pt x="14428" y="184576"/>
                    <a:pt x="8796" y="178944"/>
                  </a:cubicBezTo>
                  <a:cubicBezTo>
                    <a:pt x="3164" y="173311"/>
                    <a:pt x="0" y="165673"/>
                    <a:pt x="0" y="157708"/>
                  </a:cubicBezTo>
                  <a:lnTo>
                    <a:pt x="0" y="30032"/>
                  </a:lnTo>
                  <a:cubicBezTo>
                    <a:pt x="0" y="22067"/>
                    <a:pt x="3164" y="14428"/>
                    <a:pt x="8796" y="8796"/>
                  </a:cubicBezTo>
                  <a:cubicBezTo>
                    <a:pt x="14428" y="3164"/>
                    <a:pt x="22067" y="0"/>
                    <a:pt x="30032" y="0"/>
                  </a:cubicBezTo>
                  <a:lnTo>
                    <a:pt x="6759391" y="0"/>
                  </a:lnTo>
                  <a:cubicBezTo>
                    <a:pt x="6767355" y="0"/>
                    <a:pt x="6774994" y="3164"/>
                    <a:pt x="6780626" y="8796"/>
                  </a:cubicBezTo>
                  <a:cubicBezTo>
                    <a:pt x="6786259" y="14428"/>
                    <a:pt x="6789423" y="22067"/>
                    <a:pt x="6789423" y="300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789423" cy="24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86388" y="9574153"/>
            <a:ext cx="1934732" cy="1317605"/>
            <a:chOff x="0" y="0"/>
            <a:chExt cx="509559" cy="3470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59" cy="347024"/>
            </a:xfrm>
            <a:custGeom>
              <a:avLst/>
              <a:gdLst/>
              <a:ahLst/>
              <a:cxnLst/>
              <a:rect r="r" b="b" t="t" l="l"/>
              <a:pathLst>
                <a:path h="347024" w="509559">
                  <a:moveTo>
                    <a:pt x="173512" y="0"/>
                  </a:moveTo>
                  <a:lnTo>
                    <a:pt x="336047" y="0"/>
                  </a:lnTo>
                  <a:cubicBezTo>
                    <a:pt x="431875" y="0"/>
                    <a:pt x="509559" y="77684"/>
                    <a:pt x="509559" y="173512"/>
                  </a:cubicBezTo>
                  <a:lnTo>
                    <a:pt x="509559" y="173512"/>
                  </a:lnTo>
                  <a:cubicBezTo>
                    <a:pt x="509559" y="269340"/>
                    <a:pt x="431875" y="347024"/>
                    <a:pt x="336047" y="347024"/>
                  </a:cubicBezTo>
                  <a:lnTo>
                    <a:pt x="173512" y="347024"/>
                  </a:lnTo>
                  <a:cubicBezTo>
                    <a:pt x="77684" y="347024"/>
                    <a:pt x="0" y="269340"/>
                    <a:pt x="0" y="173512"/>
                  </a:cubicBezTo>
                  <a:lnTo>
                    <a:pt x="0" y="173512"/>
                  </a:lnTo>
                  <a:cubicBezTo>
                    <a:pt x="0" y="77684"/>
                    <a:pt x="77684" y="0"/>
                    <a:pt x="173512" y="0"/>
                  </a:cubicBezTo>
                  <a:close/>
                </a:path>
              </a:pathLst>
            </a:custGeom>
            <a:solidFill>
              <a:srgbClr val="D2E2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9559" cy="404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09576" y="399170"/>
            <a:ext cx="219151" cy="610200"/>
            <a:chOff x="0" y="0"/>
            <a:chExt cx="292202" cy="813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227" cy="813562"/>
            </a:xfrm>
            <a:custGeom>
              <a:avLst/>
              <a:gdLst/>
              <a:ahLst/>
              <a:cxnLst/>
              <a:rect r="r" b="b" t="t" l="l"/>
              <a:pathLst>
                <a:path h="813562" w="292227">
                  <a:moveTo>
                    <a:pt x="0" y="0"/>
                  </a:moveTo>
                  <a:lnTo>
                    <a:pt x="292227" y="0"/>
                  </a:lnTo>
                  <a:lnTo>
                    <a:pt x="292227" y="813562"/>
                  </a:lnTo>
                  <a:lnTo>
                    <a:pt x="0" y="8135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115793" y="9665672"/>
            <a:ext cx="12670595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Blockchainist Research Team - University of Information Technology, VNU-HCM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67708"/>
            <a:ext cx="16230600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Limitations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671320"/>
            <a:ext cx="60683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2882610"/>
            <a:ext cx="16230600" cy="477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1078992" y="1847088"/>
            <a:ext cx="7726679" cy="4224528"/>
          </a:xfrm>
          <a:prstGeom prst="roundRect">
            <a:avLst/>
          </a:prstGeom>
          <a:solidFill>
            <a:srgbClr val="F6FBFF"/>
          </a:solidFill>
          <a:ln w="13970">
            <a:solidFill>
              <a:srgbClr val="B8D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" y="2130552"/>
            <a:ext cx="384048" cy="384048"/>
          </a:xfrm>
          <a:prstGeom prst="ellipse">
            <a:avLst/>
          </a:prstGeom>
          <a:solidFill>
            <a:srgbClr val="0053A6"/>
          </a:solidFill>
          <a:ln>
            <a:solidFill>
              <a:srgbClr val="00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3312" y="2180844"/>
            <a:ext cx="384048" cy="31089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grandir"/>
              </a:defRPr>
            </a:pPr>
            <a: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103120"/>
            <a:ext cx="6629400" cy="4572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800" b="1">
                <a:solidFill>
                  <a:srgbClr val="003E7D"/>
                </a:solidFill>
                <a:latin typeface="Agrandir"/>
              </a:defRPr>
            </a:pPr>
            <a:r>
              <a:t>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2889504"/>
            <a:ext cx="32004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600" b="1">
                <a:solidFill>
                  <a:srgbClr val="009A70"/>
                </a:solidFill>
                <a:latin typeface="Agrandir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2889504"/>
            <a:ext cx="6217920" cy="310896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550" b="1">
                <a:solidFill>
                  <a:srgbClr val="1D3A60"/>
                </a:solidFill>
                <a:latin typeface="Agrandir"/>
              </a:defRPr>
            </a:pPr>
            <a:r>
              <a:t>Ethereum Mainnet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547872"/>
            <a:ext cx="32004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600" b="1">
                <a:solidFill>
                  <a:srgbClr val="009A70"/>
                </a:solidFill>
                <a:latin typeface="Agrandir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3547872"/>
            <a:ext cx="6217920" cy="310896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550" b="1">
                <a:solidFill>
                  <a:srgbClr val="1D3A60"/>
                </a:solidFill>
                <a:latin typeface="Agrandir"/>
              </a:defRPr>
            </a:pPr>
            <a:r>
              <a:t>D =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206240"/>
            <a:ext cx="32004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600" b="1">
                <a:solidFill>
                  <a:srgbClr val="009A70"/>
                </a:solidFill>
                <a:latin typeface="Agrandir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206240"/>
            <a:ext cx="6217920" cy="310896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550" b="1">
                <a:solidFill>
                  <a:srgbClr val="1D3A60"/>
                </a:solidFill>
                <a:latin typeface="Agrandir"/>
              </a:defRPr>
            </a:pPr>
            <a:r>
              <a:t>Max 3-call sequences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1847088"/>
            <a:ext cx="7726679" cy="4224528"/>
          </a:xfrm>
          <a:prstGeom prst="roundRect">
            <a:avLst/>
          </a:prstGeom>
          <a:solidFill>
            <a:srgbClr val="F6FBFF"/>
          </a:solidFill>
          <a:ln w="13970">
            <a:solidFill>
              <a:srgbClr val="B8D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38360" y="2130552"/>
            <a:ext cx="384048" cy="384048"/>
          </a:xfrm>
          <a:prstGeom prst="ellipse">
            <a:avLst/>
          </a:prstGeom>
          <a:solidFill>
            <a:srgbClr val="CD4646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2180844"/>
            <a:ext cx="384048" cy="31089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grandir"/>
              </a:defRPr>
            </a:pPr>
            <a: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2103120"/>
            <a:ext cx="6629400" cy="4572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800" b="1">
                <a:solidFill>
                  <a:srgbClr val="003E7D"/>
                </a:solidFill>
                <a:latin typeface="Agrandir"/>
              </a:defRPr>
            </a:pPr>
            <a:r>
              <a:t>Practical Constraints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48672" y="2889504"/>
            <a:ext cx="32004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600" b="1">
                <a:solidFill>
                  <a:srgbClr val="009A70"/>
                </a:solidFill>
                <a:latin typeface="Agrandir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51008" y="2889504"/>
            <a:ext cx="6217920" cy="310896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550" b="1">
                <a:solidFill>
                  <a:srgbClr val="1D3A60"/>
                </a:solidFill>
                <a:latin typeface="Agrandir"/>
              </a:defRPr>
            </a:pPr>
            <a:r>
              <a:t>Constant-product AMMs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8672" y="3547872"/>
            <a:ext cx="32004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600" b="1">
                <a:solidFill>
                  <a:srgbClr val="009A70"/>
                </a:solidFill>
                <a:latin typeface="Agrandir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1008" y="3547872"/>
            <a:ext cx="6217920" cy="310896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550" b="1">
                <a:solidFill>
                  <a:srgbClr val="1D3A60"/>
                </a:solidFill>
                <a:latin typeface="Agrandir"/>
              </a:defRPr>
            </a:pPr>
            <a:r>
              <a:t>No builder competition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8672" y="4206240"/>
            <a:ext cx="32004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600" b="1">
                <a:solidFill>
                  <a:srgbClr val="009A70"/>
                </a:solidFill>
                <a:latin typeface="Agrandir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51008" y="4206240"/>
            <a:ext cx="6217920" cy="310896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550" b="1">
                <a:solidFill>
                  <a:srgbClr val="1D3A60"/>
                </a:solidFill>
                <a:latin typeface="Agrandir"/>
              </a:defRPr>
            </a:pPr>
            <a:r>
              <a:t>No private order flow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09160" y="6629400"/>
            <a:ext cx="9006840" cy="1417320"/>
          </a:xfrm>
          <a:prstGeom prst="roundRect">
            <a:avLst/>
          </a:prstGeom>
          <a:solidFill>
            <a:srgbClr val="EDFAF5"/>
          </a:solidFill>
          <a:ln w="13970">
            <a:solidFill>
              <a:srgbClr val="B2E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47488" y="6912864"/>
            <a:ext cx="384048" cy="384048"/>
          </a:xfrm>
          <a:prstGeom prst="ellipse">
            <a:avLst/>
          </a:prstGeom>
          <a:solidFill>
            <a:srgbClr val="009A70"/>
          </a:solidFill>
          <a:ln>
            <a:solidFill>
              <a:srgbClr val="009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47488" y="6963155"/>
            <a:ext cx="384048" cy="31089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grandir"/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60" y="6720840"/>
            <a:ext cx="7680960" cy="8229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1600" b="1">
                <a:solidFill>
                  <a:srgbClr val="003E7D"/>
                </a:solidFill>
                <a:latin typeface="Agrandir"/>
              </a:defRPr>
            </a:pPr>
            <a:r>
              <a:t>Discoverability</a:t>
            </a:r>
          </a:p>
          <a:p>
            <a:pPr algn="ctr">
              <a:defRPr sz="1600" b="1">
                <a:solidFill>
                  <a:srgbClr val="003E7D"/>
                </a:solidFill>
                <a:latin typeface="Agrandir"/>
              </a:defRPr>
            </a:pPr>
            <a:r>
              <a:t>does not imply</a:t>
            </a:r>
          </a:p>
          <a:p>
            <a:pPr algn="ctr">
              <a:defRPr sz="1600" b="1">
                <a:solidFill>
                  <a:srgbClr val="003E7D"/>
                </a:solidFill>
                <a:latin typeface="Agrandir"/>
              </a:defRPr>
            </a:pPr>
            <a:r>
              <a:t>Real-world Profitability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312098"/>
            <a:ext cx="18288000" cy="784344"/>
            <a:chOff x="0" y="0"/>
            <a:chExt cx="812800" cy="34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4860"/>
            </a:xfrm>
            <a:custGeom>
              <a:avLst/>
              <a:gdLst/>
              <a:ahLst/>
              <a:cxnLst/>
              <a:rect r="r" b="b" t="t" l="l"/>
              <a:pathLst>
                <a:path h="3486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4860"/>
                  </a:lnTo>
                  <a:lnTo>
                    <a:pt x="0" y="3486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92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490499" y="9574153"/>
            <a:ext cx="25778499" cy="712847"/>
            <a:chOff x="0" y="0"/>
            <a:chExt cx="6789423" cy="187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89423" cy="187740"/>
            </a:xfrm>
            <a:custGeom>
              <a:avLst/>
              <a:gdLst/>
              <a:ahLst/>
              <a:cxnLst/>
              <a:rect r="r" b="b" t="t" l="l"/>
              <a:pathLst>
                <a:path h="187740" w="6789423">
                  <a:moveTo>
                    <a:pt x="6789423" y="30032"/>
                  </a:moveTo>
                  <a:lnTo>
                    <a:pt x="6789423" y="157708"/>
                  </a:lnTo>
                  <a:cubicBezTo>
                    <a:pt x="6789423" y="165673"/>
                    <a:pt x="6786259" y="173311"/>
                    <a:pt x="6780626" y="178944"/>
                  </a:cubicBezTo>
                  <a:cubicBezTo>
                    <a:pt x="6774994" y="184576"/>
                    <a:pt x="6767355" y="187740"/>
                    <a:pt x="6759391" y="187740"/>
                  </a:cubicBezTo>
                  <a:lnTo>
                    <a:pt x="30032" y="187740"/>
                  </a:lnTo>
                  <a:cubicBezTo>
                    <a:pt x="22067" y="187740"/>
                    <a:pt x="14428" y="184576"/>
                    <a:pt x="8796" y="178944"/>
                  </a:cubicBezTo>
                  <a:cubicBezTo>
                    <a:pt x="3164" y="173311"/>
                    <a:pt x="0" y="165673"/>
                    <a:pt x="0" y="157708"/>
                  </a:cubicBezTo>
                  <a:lnTo>
                    <a:pt x="0" y="30032"/>
                  </a:lnTo>
                  <a:cubicBezTo>
                    <a:pt x="0" y="22067"/>
                    <a:pt x="3164" y="14428"/>
                    <a:pt x="8796" y="8796"/>
                  </a:cubicBezTo>
                  <a:cubicBezTo>
                    <a:pt x="14428" y="3164"/>
                    <a:pt x="22067" y="0"/>
                    <a:pt x="30032" y="0"/>
                  </a:cubicBezTo>
                  <a:lnTo>
                    <a:pt x="6759391" y="0"/>
                  </a:lnTo>
                  <a:cubicBezTo>
                    <a:pt x="6767355" y="0"/>
                    <a:pt x="6774994" y="3164"/>
                    <a:pt x="6780626" y="8796"/>
                  </a:cubicBezTo>
                  <a:cubicBezTo>
                    <a:pt x="6786259" y="14428"/>
                    <a:pt x="6789423" y="22067"/>
                    <a:pt x="6789423" y="300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0D47A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789423" cy="24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86388" y="9574153"/>
            <a:ext cx="1934732" cy="1317605"/>
            <a:chOff x="0" y="0"/>
            <a:chExt cx="509559" cy="3470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59" cy="347024"/>
            </a:xfrm>
            <a:custGeom>
              <a:avLst/>
              <a:gdLst/>
              <a:ahLst/>
              <a:cxnLst/>
              <a:rect r="r" b="b" t="t" l="l"/>
              <a:pathLst>
                <a:path h="347024" w="509559">
                  <a:moveTo>
                    <a:pt x="173512" y="0"/>
                  </a:moveTo>
                  <a:lnTo>
                    <a:pt x="336047" y="0"/>
                  </a:lnTo>
                  <a:cubicBezTo>
                    <a:pt x="431875" y="0"/>
                    <a:pt x="509559" y="77684"/>
                    <a:pt x="509559" y="173512"/>
                  </a:cubicBezTo>
                  <a:lnTo>
                    <a:pt x="509559" y="173512"/>
                  </a:lnTo>
                  <a:cubicBezTo>
                    <a:pt x="509559" y="269340"/>
                    <a:pt x="431875" y="347024"/>
                    <a:pt x="336047" y="347024"/>
                  </a:cubicBezTo>
                  <a:lnTo>
                    <a:pt x="173512" y="347024"/>
                  </a:lnTo>
                  <a:cubicBezTo>
                    <a:pt x="77684" y="347024"/>
                    <a:pt x="0" y="269340"/>
                    <a:pt x="0" y="173512"/>
                  </a:cubicBezTo>
                  <a:lnTo>
                    <a:pt x="0" y="173512"/>
                  </a:lnTo>
                  <a:cubicBezTo>
                    <a:pt x="0" y="77684"/>
                    <a:pt x="77684" y="0"/>
                    <a:pt x="173512" y="0"/>
                  </a:cubicBezTo>
                  <a:close/>
                </a:path>
              </a:pathLst>
            </a:custGeom>
            <a:solidFill>
              <a:srgbClr val="D2E2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9559" cy="404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09576" y="399170"/>
            <a:ext cx="219151" cy="610200"/>
            <a:chOff x="0" y="0"/>
            <a:chExt cx="292202" cy="813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227" cy="813562"/>
            </a:xfrm>
            <a:custGeom>
              <a:avLst/>
              <a:gdLst/>
              <a:ahLst/>
              <a:cxnLst/>
              <a:rect r="r" b="b" t="t" l="l"/>
              <a:pathLst>
                <a:path h="813562" w="292227">
                  <a:moveTo>
                    <a:pt x="0" y="0"/>
                  </a:moveTo>
                  <a:lnTo>
                    <a:pt x="292227" y="0"/>
                  </a:lnTo>
                  <a:lnTo>
                    <a:pt x="292227" y="813562"/>
                  </a:lnTo>
                  <a:lnTo>
                    <a:pt x="0" y="8135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115793" y="9665672"/>
            <a:ext cx="12670595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Blockchainist Research Team - University of Information Technology, VNU-HCM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67708"/>
            <a:ext cx="16230600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671320"/>
            <a:ext cx="60683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2882610"/>
            <a:ext cx="16230600" cy="477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1234440" y="1755648"/>
            <a:ext cx="7498079" cy="960120"/>
          </a:xfrm>
          <a:prstGeom prst="roundRect">
            <a:avLst/>
          </a:prstGeom>
          <a:solidFill>
            <a:srgbClr val="F6FBFF"/>
          </a:solidFill>
          <a:ln w="13970">
            <a:solidFill>
              <a:srgbClr val="B8D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90472" y="1975104"/>
            <a:ext cx="384048" cy="384048"/>
          </a:xfrm>
          <a:prstGeom prst="ellipse">
            <a:avLst/>
          </a:prstGeom>
          <a:solidFill>
            <a:srgbClr val="0053A6"/>
          </a:solidFill>
          <a:ln>
            <a:solidFill>
              <a:srgbClr val="00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90472" y="2025396"/>
            <a:ext cx="384048" cy="31089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grandir"/>
              </a:defRPr>
            </a:pPr>
            <a:r>
              <a:t>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1901952"/>
            <a:ext cx="621792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550" b="1">
                <a:solidFill>
                  <a:srgbClr val="003E7D"/>
                </a:solidFill>
                <a:latin typeface="Agrandir"/>
              </a:defRPr>
            </a:pPr>
            <a:r>
              <a:t>Hybrid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2258568"/>
            <a:ext cx="6217920" cy="237744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280" b="0">
                <a:solidFill>
                  <a:srgbClr val="5A6A82"/>
                </a:solidFill>
                <a:latin typeface="Agrandir"/>
              </a:defRPr>
            </a:pPr>
            <a:r>
              <a:t>SDG + Fork Fuzzing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651760"/>
            <a:ext cx="457200" cy="310896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1700" b="1">
                <a:solidFill>
                  <a:srgbClr val="009A70"/>
                </a:solidFill>
                <a:latin typeface="Agrandir"/>
              </a:defRPr>
            </a:pPr>
            <a: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3017520"/>
            <a:ext cx="7498079" cy="960120"/>
          </a:xfrm>
          <a:prstGeom prst="roundRect">
            <a:avLst/>
          </a:prstGeom>
          <a:solidFill>
            <a:srgbClr val="F6FBFF"/>
          </a:solidFill>
          <a:ln w="13970">
            <a:solidFill>
              <a:srgbClr val="B8D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90472" y="3236976"/>
            <a:ext cx="384048" cy="384048"/>
          </a:xfrm>
          <a:prstGeom prst="ellipse">
            <a:avLst/>
          </a:prstGeom>
          <a:solidFill>
            <a:srgbClr val="0053A6"/>
          </a:solidFill>
          <a:ln>
            <a:solidFill>
              <a:srgbClr val="00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90472" y="3287268"/>
            <a:ext cx="384048" cy="31089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grandir"/>
              </a:defRPr>
            </a:pPr>
            <a: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3163824"/>
            <a:ext cx="621792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550" b="1">
                <a:solidFill>
                  <a:srgbClr val="003E7D"/>
                </a:solidFill>
                <a:latin typeface="Agrandir"/>
              </a:defRPr>
            </a:pPr>
            <a:r>
              <a:t>State 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913631"/>
            <a:ext cx="457200" cy="310896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1700" b="1">
                <a:solidFill>
                  <a:srgbClr val="009A70"/>
                </a:solidFill>
                <a:latin typeface="Agrandir"/>
              </a:defRPr>
            </a:pPr>
            <a: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34440" y="4279392"/>
            <a:ext cx="7498079" cy="960120"/>
          </a:xfrm>
          <a:prstGeom prst="roundRect">
            <a:avLst/>
          </a:prstGeom>
          <a:solidFill>
            <a:srgbClr val="F6FBFF"/>
          </a:solidFill>
          <a:ln w="13970">
            <a:solidFill>
              <a:srgbClr val="B8D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90472" y="4498848"/>
            <a:ext cx="384048" cy="384048"/>
          </a:xfrm>
          <a:prstGeom prst="ellipse">
            <a:avLst/>
          </a:prstGeom>
          <a:solidFill>
            <a:srgbClr val="0053A6"/>
          </a:solidFill>
          <a:ln>
            <a:solidFill>
              <a:srgbClr val="00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0472" y="4549140"/>
            <a:ext cx="384048" cy="31089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grandir"/>
              </a:defRPr>
            </a:pPr>
            <a:r>
              <a:t>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4425696"/>
            <a:ext cx="621792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550" b="1">
                <a:solidFill>
                  <a:srgbClr val="003E7D"/>
                </a:solidFill>
                <a:latin typeface="Agrandir"/>
              </a:defRPr>
            </a:pPr>
            <a:r>
              <a:t>Profitability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5175504"/>
            <a:ext cx="457200" cy="310896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1700" b="1">
                <a:solidFill>
                  <a:srgbClr val="009A70"/>
                </a:solidFill>
                <a:latin typeface="Agrandir"/>
              </a:defRPr>
            </a:pPr>
            <a: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34440" y="5541264"/>
            <a:ext cx="7498079" cy="960120"/>
          </a:xfrm>
          <a:prstGeom prst="roundRect">
            <a:avLst/>
          </a:prstGeom>
          <a:solidFill>
            <a:srgbClr val="F6FBFF"/>
          </a:solidFill>
          <a:ln w="13970">
            <a:solidFill>
              <a:srgbClr val="B8D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90472" y="5760720"/>
            <a:ext cx="384048" cy="384048"/>
          </a:xfrm>
          <a:prstGeom prst="ellipse">
            <a:avLst/>
          </a:prstGeom>
          <a:solidFill>
            <a:srgbClr val="0053A6"/>
          </a:solidFill>
          <a:ln>
            <a:solidFill>
              <a:srgbClr val="00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90472" y="5811012"/>
            <a:ext cx="384048" cy="31089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grandir"/>
              </a:defRPr>
            </a:pPr>
            <a:r>
              <a:t>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687568"/>
            <a:ext cx="621792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550" b="1">
                <a:solidFill>
                  <a:srgbClr val="003E7D"/>
                </a:solidFill>
                <a:latin typeface="Agrandir"/>
              </a:defRPr>
            </a:pPr>
            <a:r>
              <a:t>Scalable tMEV Discovery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72600" y="1755648"/>
            <a:ext cx="7269480" cy="4434840"/>
          </a:xfrm>
          <a:prstGeom prst="roundRect">
            <a:avLst/>
          </a:prstGeom>
          <a:solidFill>
            <a:srgbClr val="EDFAF5"/>
          </a:solidFill>
          <a:ln w="13970">
            <a:solidFill>
              <a:srgbClr val="B2E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0" y="2029968"/>
            <a:ext cx="6583680" cy="38404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700" b="1">
                <a:solidFill>
                  <a:srgbClr val="009A70"/>
                </a:solidFill>
                <a:latin typeface="Agrandir"/>
              </a:defRPr>
            </a:pPr>
            <a:r>
              <a:t>Key Achievement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743200"/>
            <a:ext cx="347472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009A70"/>
                </a:solidFill>
                <a:latin typeface="Agrandir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2743200"/>
            <a:ext cx="598932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480" b="1">
                <a:solidFill>
                  <a:srgbClr val="1D3A60"/>
                </a:solidFill>
                <a:latin typeface="Agrandir"/>
              </a:defRPr>
            </a:pPr>
            <a:r>
              <a:t>22,279 contracts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310128"/>
            <a:ext cx="347472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009A70"/>
                </a:solidFill>
                <a:latin typeface="Agrandir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5560" y="3310128"/>
            <a:ext cx="598932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480" b="1">
                <a:solidFill>
                  <a:srgbClr val="1D3A60"/>
                </a:solidFill>
                <a:latin typeface="Agrandir"/>
              </a:defRPr>
            </a:pPr>
            <a:r>
              <a:t>84.58% Recall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3877056"/>
            <a:ext cx="347472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009A70"/>
                </a:solidFill>
                <a:latin typeface="Agrandir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5560" y="3877056"/>
            <a:ext cx="598932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480" b="1">
                <a:solidFill>
                  <a:srgbClr val="1D3A60"/>
                </a:solidFill>
                <a:latin typeface="Agrandir"/>
              </a:defRPr>
            </a:pPr>
            <a:r>
              <a:t>78.04% F1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4443984"/>
            <a:ext cx="347472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009A70"/>
                </a:solidFill>
                <a:latin typeface="Agrandir"/>
              </a:defRPr>
            </a:pPr>
            <a: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95560" y="4443984"/>
            <a:ext cx="598932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1480" b="1">
                <a:solidFill>
                  <a:srgbClr val="1D3A60"/>
                </a:solidFill>
                <a:latin typeface="Agrandir"/>
              </a:defRPr>
            </a:pPr>
            <a:r>
              <a:t>Ecosystem-scale deployment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34440" y="6784848"/>
            <a:ext cx="15407640" cy="1170432"/>
          </a:xfrm>
          <a:prstGeom prst="roundRect">
            <a:avLst/>
          </a:prstGeom>
          <a:solidFill>
            <a:srgbClr val="E2F0FF"/>
          </a:solidFill>
          <a:ln w="13970">
            <a:solidFill>
              <a:srgbClr val="89B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91640" y="7059168"/>
            <a:ext cx="1449324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1550" b="1">
                <a:solidFill>
                  <a:srgbClr val="003E7D"/>
                </a:solidFill>
                <a:latin typeface="Agrandir"/>
              </a:defRPr>
            </a:pPr>
            <a:r>
              <a:t>Static pruning + execution-grounded validation is an effective solution for scalable Token-centric MEV detection.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05778" y="704270"/>
            <a:ext cx="8476445" cy="648860"/>
            <a:chOff x="0" y="0"/>
            <a:chExt cx="11301927" cy="8651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983611" y="0"/>
              <a:ext cx="3318316" cy="863658"/>
            </a:xfrm>
            <a:custGeom>
              <a:avLst/>
              <a:gdLst/>
              <a:ahLst/>
              <a:cxnLst/>
              <a:rect r="r" b="b" t="t" l="l"/>
              <a:pathLst>
                <a:path h="863658" w="3318316">
                  <a:moveTo>
                    <a:pt x="0" y="0"/>
                  </a:moveTo>
                  <a:lnTo>
                    <a:pt x="3318316" y="0"/>
                  </a:lnTo>
                  <a:lnTo>
                    <a:pt x="3318316" y="863658"/>
                  </a:lnTo>
                  <a:lnTo>
                    <a:pt x="0" y="863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988" t="-10069" r="-3079" b="-12417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252435" y="0"/>
              <a:ext cx="2504459" cy="863658"/>
            </a:xfrm>
            <a:custGeom>
              <a:avLst/>
              <a:gdLst/>
              <a:ahLst/>
              <a:cxnLst/>
              <a:rect r="r" b="b" t="t" l="l"/>
              <a:pathLst>
                <a:path h="863658" w="2504459">
                  <a:moveTo>
                    <a:pt x="0" y="0"/>
                  </a:moveTo>
                  <a:lnTo>
                    <a:pt x="2504459" y="0"/>
                  </a:lnTo>
                  <a:lnTo>
                    <a:pt x="2504459" y="863658"/>
                  </a:lnTo>
                  <a:lnTo>
                    <a:pt x="0" y="863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30" t="-46162" r="-6573" b="-20516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5940711" y="496"/>
              <a:ext cx="918535" cy="864650"/>
              <a:chOff x="0" y="0"/>
              <a:chExt cx="1222946" cy="115120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222883" cy="1151255"/>
              </a:xfrm>
              <a:custGeom>
                <a:avLst/>
                <a:gdLst/>
                <a:ahLst/>
                <a:cxnLst/>
                <a:rect r="r" b="b" t="t" l="l"/>
                <a:pathLst>
                  <a:path h="1151255" w="1222883">
                    <a:moveTo>
                      <a:pt x="0" y="0"/>
                    </a:moveTo>
                    <a:lnTo>
                      <a:pt x="1222883" y="0"/>
                    </a:lnTo>
                    <a:lnTo>
                      <a:pt x="1222883" y="1151255"/>
                    </a:lnTo>
                    <a:lnTo>
                      <a:pt x="0" y="115125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5880" t="-4" r="-15885" b="0"/>
                </a:stretch>
              </a:blip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7037046" y="61418"/>
              <a:ext cx="768765" cy="742807"/>
              <a:chOff x="0" y="0"/>
              <a:chExt cx="932421" cy="900938"/>
            </a:xfrm>
          </p:grpSpPr>
          <p:sp>
            <p:nvSpPr>
              <p:cNvPr name="Freeform 8" id="8" descr="A blue and white x  Description automatically generated"/>
              <p:cNvSpPr/>
              <p:nvPr/>
            </p:nvSpPr>
            <p:spPr>
              <a:xfrm flipH="false" flipV="false" rot="0">
                <a:off x="0" y="0"/>
                <a:ext cx="932434" cy="900938"/>
              </a:xfrm>
              <a:custGeom>
                <a:avLst/>
                <a:gdLst/>
                <a:ahLst/>
                <a:cxnLst/>
                <a:rect r="r" b="b" t="t" l="l"/>
                <a:pathLst>
                  <a:path h="900938" w="932434">
                    <a:moveTo>
                      <a:pt x="0" y="0"/>
                    </a:moveTo>
                    <a:lnTo>
                      <a:pt x="932434" y="0"/>
                    </a:lnTo>
                    <a:lnTo>
                      <a:pt x="932434" y="900938"/>
                    </a:lnTo>
                    <a:lnTo>
                      <a:pt x="0" y="9009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" t="-1" r="0" b="-1"/>
                </a:stretch>
              </a:blip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0" y="61418"/>
              <a:ext cx="3074635" cy="752010"/>
            </a:xfrm>
            <a:custGeom>
              <a:avLst/>
              <a:gdLst/>
              <a:ahLst/>
              <a:cxnLst/>
              <a:rect r="r" b="b" t="t" l="l"/>
              <a:pathLst>
                <a:path h="752010" w="3074635">
                  <a:moveTo>
                    <a:pt x="0" y="0"/>
                  </a:moveTo>
                  <a:lnTo>
                    <a:pt x="3074635" y="0"/>
                  </a:lnTo>
                  <a:lnTo>
                    <a:pt x="3074635" y="752010"/>
                  </a:lnTo>
                  <a:lnTo>
                    <a:pt x="0" y="752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936" t="-168172" r="-5189" b="-18208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673413">
            <a:off x="9204907" y="892346"/>
            <a:ext cx="13265113" cy="13265113"/>
          </a:xfrm>
          <a:custGeom>
            <a:avLst/>
            <a:gdLst/>
            <a:ahLst/>
            <a:cxnLst/>
            <a:rect r="r" b="b" t="t" l="l"/>
            <a:pathLst>
              <a:path h="13265113" w="13265113">
                <a:moveTo>
                  <a:pt x="0" y="0"/>
                </a:moveTo>
                <a:lnTo>
                  <a:pt x="13265112" y="0"/>
                </a:lnTo>
                <a:lnTo>
                  <a:pt x="13265112" y="13265112"/>
                </a:lnTo>
                <a:lnTo>
                  <a:pt x="0" y="132651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0027763" y="1543273"/>
            <a:ext cx="12030222" cy="11200136"/>
            <a:chOff x="0" y="0"/>
            <a:chExt cx="6350000" cy="59118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02" y="0"/>
              <a:ext cx="6348428" cy="5911850"/>
            </a:xfrm>
            <a:custGeom>
              <a:avLst/>
              <a:gdLst/>
              <a:ahLst/>
              <a:cxnLst/>
              <a:rect r="r" b="b" t="t" l="l"/>
              <a:pathLst>
                <a:path h="5911850" w="6348428">
                  <a:moveTo>
                    <a:pt x="1146508" y="402590"/>
                  </a:moveTo>
                  <a:lnTo>
                    <a:pt x="108918" y="2192020"/>
                  </a:lnTo>
                  <a:cubicBezTo>
                    <a:pt x="-68882" y="2498090"/>
                    <a:pt x="-25702" y="2884170"/>
                    <a:pt x="214328" y="3144520"/>
                  </a:cubicBezTo>
                  <a:lnTo>
                    <a:pt x="2525728" y="5651500"/>
                  </a:lnTo>
                  <a:cubicBezTo>
                    <a:pt x="2678128" y="5817870"/>
                    <a:pt x="2894028" y="5911850"/>
                    <a:pt x="3118818" y="5911850"/>
                  </a:cubicBezTo>
                  <a:lnTo>
                    <a:pt x="5540708" y="5911850"/>
                  </a:lnTo>
                  <a:cubicBezTo>
                    <a:pt x="5986478" y="5911850"/>
                    <a:pt x="6348428" y="5549900"/>
                    <a:pt x="6348428" y="5104130"/>
                  </a:cubicBezTo>
                  <a:lnTo>
                    <a:pt x="6348428" y="1891030"/>
                  </a:lnTo>
                  <a:cubicBezTo>
                    <a:pt x="6348428" y="1724660"/>
                    <a:pt x="6297628" y="1562100"/>
                    <a:pt x="6201108" y="1426210"/>
                  </a:cubicBezTo>
                  <a:lnTo>
                    <a:pt x="5439108" y="342900"/>
                  </a:lnTo>
                  <a:cubicBezTo>
                    <a:pt x="5287978" y="128270"/>
                    <a:pt x="5041598" y="0"/>
                    <a:pt x="4778708" y="0"/>
                  </a:cubicBezTo>
                  <a:lnTo>
                    <a:pt x="1845008" y="0"/>
                  </a:lnTo>
                  <a:cubicBezTo>
                    <a:pt x="1556718" y="0"/>
                    <a:pt x="1290018" y="153670"/>
                    <a:pt x="1146508" y="402590"/>
                  </a:cubicBezTo>
                  <a:close/>
                </a:path>
              </a:pathLst>
            </a:custGeom>
            <a:blipFill>
              <a:blip r:embed="rId9"/>
              <a:stretch>
                <a:fillRect l="0" t="-21589" r="0" b="-21589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3686175"/>
            <a:ext cx="6659159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 you </a:t>
            </a:r>
          </a:p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for listening!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-7490499" y="9574153"/>
            <a:ext cx="25778499" cy="712847"/>
            <a:chOff x="0" y="0"/>
            <a:chExt cx="6789423" cy="187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89423" cy="187740"/>
            </a:xfrm>
            <a:custGeom>
              <a:avLst/>
              <a:gdLst/>
              <a:ahLst/>
              <a:cxnLst/>
              <a:rect r="r" b="b" t="t" l="l"/>
              <a:pathLst>
                <a:path h="187740" w="6789423">
                  <a:moveTo>
                    <a:pt x="6789423" y="30032"/>
                  </a:moveTo>
                  <a:lnTo>
                    <a:pt x="6789423" y="157708"/>
                  </a:lnTo>
                  <a:cubicBezTo>
                    <a:pt x="6789423" y="165673"/>
                    <a:pt x="6786259" y="173311"/>
                    <a:pt x="6780626" y="178944"/>
                  </a:cubicBezTo>
                  <a:cubicBezTo>
                    <a:pt x="6774994" y="184576"/>
                    <a:pt x="6767355" y="187740"/>
                    <a:pt x="6759391" y="187740"/>
                  </a:cubicBezTo>
                  <a:lnTo>
                    <a:pt x="30032" y="187740"/>
                  </a:lnTo>
                  <a:cubicBezTo>
                    <a:pt x="22067" y="187740"/>
                    <a:pt x="14428" y="184576"/>
                    <a:pt x="8796" y="178944"/>
                  </a:cubicBezTo>
                  <a:cubicBezTo>
                    <a:pt x="3164" y="173311"/>
                    <a:pt x="0" y="165673"/>
                    <a:pt x="0" y="157708"/>
                  </a:cubicBezTo>
                  <a:lnTo>
                    <a:pt x="0" y="30032"/>
                  </a:lnTo>
                  <a:cubicBezTo>
                    <a:pt x="0" y="22067"/>
                    <a:pt x="3164" y="14428"/>
                    <a:pt x="8796" y="8796"/>
                  </a:cubicBezTo>
                  <a:cubicBezTo>
                    <a:pt x="14428" y="3164"/>
                    <a:pt x="22067" y="0"/>
                    <a:pt x="30032" y="0"/>
                  </a:cubicBezTo>
                  <a:lnTo>
                    <a:pt x="6759391" y="0"/>
                  </a:lnTo>
                  <a:cubicBezTo>
                    <a:pt x="6767355" y="0"/>
                    <a:pt x="6774994" y="3164"/>
                    <a:pt x="6780626" y="8796"/>
                  </a:cubicBezTo>
                  <a:cubicBezTo>
                    <a:pt x="6786259" y="14428"/>
                    <a:pt x="6789423" y="22067"/>
                    <a:pt x="6789423" y="300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80000"/>
                  </a:srgbClr>
                </a:gs>
                <a:gs pos="100000">
                  <a:srgbClr val="0D47A1">
                    <a:alpha val="8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789423" cy="24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786388" y="9574153"/>
            <a:ext cx="1934732" cy="1317605"/>
            <a:chOff x="0" y="0"/>
            <a:chExt cx="509559" cy="3470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9559" cy="347024"/>
            </a:xfrm>
            <a:custGeom>
              <a:avLst/>
              <a:gdLst/>
              <a:ahLst/>
              <a:cxnLst/>
              <a:rect r="r" b="b" t="t" l="l"/>
              <a:pathLst>
                <a:path h="347024" w="509559">
                  <a:moveTo>
                    <a:pt x="173512" y="0"/>
                  </a:moveTo>
                  <a:lnTo>
                    <a:pt x="336047" y="0"/>
                  </a:lnTo>
                  <a:cubicBezTo>
                    <a:pt x="431875" y="0"/>
                    <a:pt x="509559" y="77684"/>
                    <a:pt x="509559" y="173512"/>
                  </a:cubicBezTo>
                  <a:lnTo>
                    <a:pt x="509559" y="173512"/>
                  </a:lnTo>
                  <a:cubicBezTo>
                    <a:pt x="509559" y="269340"/>
                    <a:pt x="431875" y="347024"/>
                    <a:pt x="336047" y="347024"/>
                  </a:cubicBezTo>
                  <a:lnTo>
                    <a:pt x="173512" y="347024"/>
                  </a:lnTo>
                  <a:cubicBezTo>
                    <a:pt x="77684" y="347024"/>
                    <a:pt x="0" y="269340"/>
                    <a:pt x="0" y="173512"/>
                  </a:cubicBezTo>
                  <a:lnTo>
                    <a:pt x="0" y="173512"/>
                  </a:lnTo>
                  <a:cubicBezTo>
                    <a:pt x="0" y="77684"/>
                    <a:pt x="77684" y="0"/>
                    <a:pt x="173512" y="0"/>
                  </a:cubicBezTo>
                  <a:close/>
                </a:path>
              </a:pathLst>
            </a:custGeom>
            <a:solidFill>
              <a:srgbClr val="D2E2F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509559" cy="404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115793" y="9665672"/>
            <a:ext cx="12670595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Blockchainist Research Team - University of Information Technology, VNU-HCM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259300" y="9671320"/>
            <a:ext cx="60683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D47A1"/>
                </a:solidFill>
                <a:latin typeface="Agrandir Bold"/>
                <a:ea typeface="Agrandir Bold"/>
                <a:cs typeface="Agrandir Bold"/>
                <a:sym typeface="Agrandir Bold"/>
              </a:rPr>
              <a:t>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6309360"/>
            <a:ext cx="5806440" cy="62179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>
              <a:defRPr sz="2800" b="1">
                <a:solidFill>
                  <a:srgbClr val="009A70"/>
                </a:solidFill>
                <a:latin typeface="Agrandir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DAHPRHO4vqM</dc:identifier>
  <dcterms:modified xsi:type="dcterms:W3CDTF">2011-08-01T06:04:30Z</dcterms:modified>
  <cp:revision>1</cp:revision>
  <dc:title>MAPR2026 - PRECISE</dc:title>
</cp:coreProperties>
</file>